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147483527" r:id="rId2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93"/>
    <p:restoredTop sz="94658"/>
  </p:normalViewPr>
  <p:slideViewPr>
    <p:cSldViewPr snapToGrid="0">
      <p:cViewPr varScale="1">
        <p:scale>
          <a:sx n="120" d="100"/>
          <a:sy n="120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54C4CC-1C88-E446-B1B4-2F4437049F08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242CE4-12FC-B24C-9420-7916890DFA96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63181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0E2D9-5C30-1495-7D0B-49C37099F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011E02-9B9F-BACE-EEA9-92224615F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7BD94-4DEA-682E-C445-94545B67A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4055848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048D2-D183-27CE-ADB0-B3C81D7E1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94BA6-C94D-90E0-F567-80944D51A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0D1B4-930A-60C8-FEED-B345478D6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2B1CE-96A4-9138-4AB5-2F514ECA9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007D-BD58-EFA0-5B0A-C796E8D6B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659813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5A553-DAC6-E27E-2889-84E9676D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890D-D393-719F-F636-ACF85B05F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5E4D6-66D2-0FC7-7E36-26C0BB21E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71774-EEE3-CBF9-482C-5F65B9E85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D3CC2-0D66-1748-3C9D-406BD7F6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2929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DABF0-8A4C-A0A8-4D66-3A83950B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347-FF71-5781-95D4-0E88A3ACE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3BBFF-0FA8-F6A5-478A-5605F41A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C97C0-305B-7432-002F-FC02F9CD4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BA9FA-1A5B-5310-209A-D12497F9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913341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DBC3A-CC6C-0944-C84B-1081D925C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5B3EF-51CF-3F58-6BE9-F3A785216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9C960-42C5-6CCE-183E-AB46BED8E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60ABD-2E45-426E-5A08-68797A9C8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88959-4B21-C3E0-459C-02AFBAE3B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AEAA9-DD53-C697-0832-FFB077F95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49985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82801-C254-4B51-2ECB-BE13FD4ED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B5905-3D10-E78F-6FA2-A1EC3B76B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022A3-97E2-3110-CFE8-FACDF692E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16A3AD-8D92-8AAB-490C-1D2E323DE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B58433-74AA-CAE3-6EC4-A70364ACC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E3D9AE-4E3D-0578-C78C-E531A78C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C3B3AF-6344-9CBE-5816-BD0F959B7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923BDD-3FF1-8238-6901-65AA00FA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1490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261CE-28CE-B15C-ACA9-D95D24769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A9DAFB-11E2-AA1F-95C0-26F6769F2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07874-7BC2-8DC9-E4FD-65B4CC0AC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05D21-80E8-443F-8014-D692C914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2789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737259-E892-242D-A423-9C804C0DF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78C4A-5246-042B-6952-79B289303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31D11-CF0E-4974-A61C-9AE679E0C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925995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3F990-48D7-F623-D80F-DBF0D83B5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05CF2-9F5E-ADCE-315E-76C251D61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FA9FA-D796-2A7B-42CE-02B5E3E5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E845C-D944-D9B6-A44E-AFD053B66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A3954-DC96-1F20-F7AF-292D34795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EC27A-A204-229B-7EF6-92418D185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256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5752B-5D36-C9A4-3685-E58B0495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6A8346-BABD-FADC-8E07-FE492BA8D3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29CBF-2F11-20F4-CD95-5ADD72079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06B15-8390-8941-55A0-5378B1CD7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71986-11EA-9103-AF8B-03FC5D407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05012-25ED-D977-D10D-EC41A8E7E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78145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F290-F294-0B1D-255F-80E321DB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21E9D6-B01E-EB37-F720-45197242E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96B00-45D2-59A7-E8FF-69DA5E7E7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F5772-4250-E634-F1FC-DA8A2457C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DAE4C-A5BC-10A1-D923-F5C1EC6E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6725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A2C1E4-DB48-D9EB-7BAF-8504A8C36D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2CABE6-774B-F24C-1CEE-8F799ED76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B13D8-48E3-A137-379F-FACE9A8FE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35917-5908-00E8-6DDB-AA5095A2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0CC3A-D04A-B9DB-9494-CA673B3D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62028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icture Placeholder 3"/>
          <p:cNvSpPr>
            <a:spLocks noGrp="1"/>
          </p:cNvSpPr>
          <p:nvPr>
            <p:ph type="pic" idx="13"/>
          </p:nvPr>
        </p:nvSpPr>
        <p:spPr>
          <a:xfrm>
            <a:off x="179294" y="2975112"/>
            <a:ext cx="11833412" cy="3041376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C227258-C040-924E-9C3B-6DA0810689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7645" y="-190808"/>
            <a:ext cx="1499514" cy="148475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0F29A77-67C3-0FB3-5428-783FA9ADCD23}"/>
              </a:ext>
            </a:extLst>
          </p:cNvPr>
          <p:cNvGrpSpPr/>
          <p:nvPr userDrawn="1"/>
        </p:nvGrpSpPr>
        <p:grpSpPr>
          <a:xfrm>
            <a:off x="10369095" y="-1675594"/>
            <a:ext cx="2272718" cy="4909522"/>
            <a:chOff x="10369095" y="-1675594"/>
            <a:chExt cx="2272718" cy="4909522"/>
          </a:xfrm>
        </p:grpSpPr>
        <p:sp>
          <p:nvSpPr>
            <p:cNvPr id="4" name="Moon 3">
              <a:extLst>
                <a:ext uri="{FF2B5EF4-FFF2-40B4-BE49-F238E27FC236}">
                  <a16:creationId xmlns:a16="http://schemas.microsoft.com/office/drawing/2014/main" id="{A6FA3A82-731E-963B-A102-016F14FF3CA3}"/>
                </a:ext>
              </a:extLst>
            </p:cNvPr>
            <p:cNvSpPr/>
            <p:nvPr/>
          </p:nvSpPr>
          <p:spPr>
            <a:xfrm rot="8261318">
              <a:off x="10397699" y="-1395487"/>
              <a:ext cx="2244114" cy="4629415"/>
            </a:xfrm>
            <a:prstGeom prst="moon">
              <a:avLst/>
            </a:prstGeom>
            <a:solidFill>
              <a:srgbClr val="FFB814"/>
            </a:solidFill>
          </p:spPr>
          <p:txBody>
            <a:bodyPr/>
            <a:lstStyle/>
            <a:p>
              <a:endParaRPr lang="en-EG" sz="1688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" name="Moon 4">
              <a:extLst>
                <a:ext uri="{FF2B5EF4-FFF2-40B4-BE49-F238E27FC236}">
                  <a16:creationId xmlns:a16="http://schemas.microsoft.com/office/drawing/2014/main" id="{DC036898-7D18-D1AE-1EB4-35A03734181C}"/>
                </a:ext>
              </a:extLst>
            </p:cNvPr>
            <p:cNvSpPr/>
            <p:nvPr/>
          </p:nvSpPr>
          <p:spPr>
            <a:xfrm rot="8261318">
              <a:off x="10369095" y="-1675594"/>
              <a:ext cx="2244114" cy="4629415"/>
            </a:xfrm>
            <a:prstGeom prst="moon">
              <a:avLst/>
            </a:prstGeom>
            <a:solidFill>
              <a:srgbClr val="082D4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EG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pic>
        <p:nvPicPr>
          <p:cNvPr id="6" name="Image 5" descr="preencoded.png">
            <a:extLst>
              <a:ext uri="{FF2B5EF4-FFF2-40B4-BE49-F238E27FC236}">
                <a16:creationId xmlns:a16="http://schemas.microsoft.com/office/drawing/2014/main" id="{C5DF52FC-7734-D2F5-E621-5C12B00E13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0000"/>
          </a:blip>
          <a:srcRect t="-103" b="-103"/>
          <a:stretch/>
        </p:blipFill>
        <p:spPr>
          <a:xfrm>
            <a:off x="0" y="4148633"/>
            <a:ext cx="12191695" cy="271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820421"/>
      </p:ext>
    </p:extLst>
  </p:cSld>
  <p:clrMapOvr>
    <a:masterClrMapping/>
  </p:clrMapOvr>
  <p:transition spd="med"/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BB82BD-D3F9-19F4-02AC-0FAA8CF3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3B3E4-53B9-2EFD-F619-7C1980DC2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B9FE2-7934-CABF-585E-07BBCE832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8FF0D4-7EFF-6E4C-B5C7-F2726EEDB699}" type="datetimeFigureOut">
              <a:rPr lang="en-EG" smtClean="0"/>
              <a:t>12/05/2026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C435C-D70C-5933-F0F3-CA4A7DF13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F3D54-7BA3-B0EE-3B00-1C484FB91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67B300-37B2-C74E-B94F-AD5E8CF3F4F1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438333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9CD58-C2B9-8C8B-7359-5C173B19E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BCC6E7F8-EBE9-4018-077A-5D40FFD11E36}"/>
              </a:ext>
            </a:extLst>
          </p:cNvPr>
          <p:cNvSpPr/>
          <p:nvPr/>
        </p:nvSpPr>
        <p:spPr>
          <a:xfrm>
            <a:off x="571500" y="2100791"/>
            <a:ext cx="11048695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04EE32A-7B2C-093B-5B98-67C550A9D2FD}"/>
              </a:ext>
            </a:extLst>
          </p:cNvPr>
          <p:cNvSpPr txBox="1"/>
          <p:nvPr/>
        </p:nvSpPr>
        <p:spPr>
          <a:xfrm>
            <a:off x="533552" y="319126"/>
            <a:ext cx="11239805" cy="584775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ctr">
              <a:defRPr sz="4400" b="1" cap="all" spc="360">
                <a:solidFill>
                  <a:srgbClr val="082D4A"/>
                </a:solidFill>
                <a:latin typeface="Nexa Bold"/>
                <a:ea typeface="Nexa Bold"/>
                <a:cs typeface="Nexa Bold"/>
              </a:defRPr>
            </a:lvl1pPr>
          </a:lstStyle>
          <a:p>
            <a:r>
              <a:rPr lang="en-US" sz="3200" dirty="0"/>
              <a:t>Operations Optimization at National Scale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FFB1BB1F-1318-E452-DBC4-32D32DA5DD62}"/>
              </a:ext>
            </a:extLst>
          </p:cNvPr>
          <p:cNvSpPr txBox="1"/>
          <p:nvPr/>
        </p:nvSpPr>
        <p:spPr>
          <a:xfrm>
            <a:off x="571500" y="1048711"/>
            <a:ext cx="11163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EG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500" b="1">
                <a:solidFill>
                  <a:srgbClr val="082D4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ctr"/>
            <a:r>
              <a:rPr lang="en-US" dirty="0"/>
              <a:t>How WAVZ Specialized Managed Services Team Transformed the Suez Canal Economic Zone's Digital Infrastructure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ADA695F-2598-D892-BFA3-95334DFD8700}"/>
              </a:ext>
            </a:extLst>
          </p:cNvPr>
          <p:cNvSpPr/>
          <p:nvPr/>
        </p:nvSpPr>
        <p:spPr>
          <a:xfrm>
            <a:off x="2661638" y="1435821"/>
            <a:ext cx="6983632" cy="514807"/>
          </a:xfrm>
          <a:prstGeom prst="roundRect">
            <a:avLst>
              <a:gd name="adj" fmla="val 52628"/>
            </a:avLst>
          </a:prstGeom>
          <a:solidFill>
            <a:schemeClr val="tx2"/>
          </a:solidFill>
          <a:ln w="12700">
            <a:solidFill>
              <a:srgbClr val="173955"/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9954EE82-323E-8C57-C44F-975437698599}"/>
              </a:ext>
            </a:extLst>
          </p:cNvPr>
          <p:cNvSpPr txBox="1"/>
          <p:nvPr/>
        </p:nvSpPr>
        <p:spPr>
          <a:xfrm>
            <a:off x="3261369" y="1437253"/>
            <a:ext cx="6205119" cy="514807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Managing 1,000+ users across SC-Zone</a:t>
            </a:r>
            <a:r>
              <a:rPr lang="en-US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with 24/7 continuous operations</a:t>
            </a:r>
            <a:endParaRPr lang="en-US" sz="14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E08AD70-DD8A-652B-A530-5DDBA075C51D}"/>
              </a:ext>
            </a:extLst>
          </p:cNvPr>
          <p:cNvSpPr/>
          <p:nvPr/>
        </p:nvSpPr>
        <p:spPr>
          <a:xfrm>
            <a:off x="571500" y="2705710"/>
            <a:ext cx="5333695" cy="91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D292ABDF-D93F-AC2A-0794-DC9ABADC4A72}"/>
              </a:ext>
            </a:extLst>
          </p:cNvPr>
          <p:cNvSpPr txBox="1"/>
          <p:nvPr/>
        </p:nvSpPr>
        <p:spPr>
          <a:xfrm>
            <a:off x="571500" y="2340368"/>
            <a:ext cx="5448301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75" dirty="0">
                <a:solidFill>
                  <a:srgbClr val="1739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CHALLENGE</a:t>
            </a:r>
            <a:endParaRPr lang="en-US" sz="1800" dirty="0">
              <a:solidFill>
                <a:srgbClr val="17395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03BBA239-B855-ECA8-0BDC-B1E6A574C855}"/>
              </a:ext>
            </a:extLst>
          </p:cNvPr>
          <p:cNvSpPr/>
          <p:nvPr/>
        </p:nvSpPr>
        <p:spPr>
          <a:xfrm>
            <a:off x="6286500" y="2705710"/>
            <a:ext cx="5333695" cy="91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9E073108-AA09-DCE7-6447-D5EC79BC1DEF}"/>
              </a:ext>
            </a:extLst>
          </p:cNvPr>
          <p:cNvSpPr txBox="1"/>
          <p:nvPr/>
        </p:nvSpPr>
        <p:spPr>
          <a:xfrm>
            <a:off x="6279184" y="2340368"/>
            <a:ext cx="5341925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75" dirty="0">
                <a:solidFill>
                  <a:srgbClr val="17395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SOLUTION</a:t>
            </a:r>
            <a:endParaRPr lang="en-US" sz="1800" dirty="0">
              <a:solidFill>
                <a:srgbClr val="17395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F9798088-0F5F-BF60-C870-552A0AB89BD2}"/>
              </a:ext>
            </a:extLst>
          </p:cNvPr>
          <p:cNvSpPr/>
          <p:nvPr/>
        </p:nvSpPr>
        <p:spPr>
          <a:xfrm>
            <a:off x="3217062" y="947385"/>
            <a:ext cx="5772709" cy="45719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59C5709C-B67E-70D5-9B19-D825FBACA587}"/>
              </a:ext>
            </a:extLst>
          </p:cNvPr>
          <p:cNvSpPr/>
          <p:nvPr/>
        </p:nvSpPr>
        <p:spPr>
          <a:xfrm>
            <a:off x="832692" y="3034411"/>
            <a:ext cx="365760" cy="36576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EG" sz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F6AC4C03-E547-91D7-1745-861A811DC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44" y="3107563"/>
            <a:ext cx="219456" cy="219456"/>
          </a:xfrm>
          <a:prstGeom prst="rect">
            <a:avLst/>
          </a:prstGeom>
        </p:spPr>
      </p:pic>
      <p:sp>
        <p:nvSpPr>
          <p:cNvPr id="14" name="Text 17">
            <a:extLst>
              <a:ext uri="{FF2B5EF4-FFF2-40B4-BE49-F238E27FC236}">
                <a16:creationId xmlns:a16="http://schemas.microsoft.com/office/drawing/2014/main" id="{26043238-FBAC-7065-1AFE-FE84AA60C141}"/>
              </a:ext>
            </a:extLst>
          </p:cNvPr>
          <p:cNvSpPr/>
          <p:nvPr/>
        </p:nvSpPr>
        <p:spPr>
          <a:xfrm>
            <a:off x="1289892" y="2848841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Zero Visibility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0F10C7D2-E7F5-9C60-497D-30D6BFED6C30}"/>
              </a:ext>
            </a:extLst>
          </p:cNvPr>
          <p:cNvSpPr/>
          <p:nvPr/>
        </p:nvSpPr>
        <p:spPr>
          <a:xfrm>
            <a:off x="1289891" y="3150593"/>
            <a:ext cx="4615303" cy="29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 monitoring existed — zero alerts, no anomaly detection across any system or network.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C41D8130-58F3-A6CA-C69F-158DF66B5C52}"/>
              </a:ext>
            </a:extLst>
          </p:cNvPr>
          <p:cNvSpPr/>
          <p:nvPr/>
        </p:nvSpPr>
        <p:spPr>
          <a:xfrm>
            <a:off x="832692" y="3634785"/>
            <a:ext cx="365760" cy="36576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EG" sz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15653B85-0ADD-ACCA-D3D2-9AEB1FADD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844" y="3707937"/>
            <a:ext cx="219456" cy="219456"/>
          </a:xfrm>
          <a:prstGeom prst="rect">
            <a:avLst/>
          </a:prstGeom>
        </p:spPr>
      </p:pic>
      <p:sp>
        <p:nvSpPr>
          <p:cNvPr id="23" name="Text 21">
            <a:extLst>
              <a:ext uri="{FF2B5EF4-FFF2-40B4-BE49-F238E27FC236}">
                <a16:creationId xmlns:a16="http://schemas.microsoft.com/office/drawing/2014/main" id="{74A9CBC4-789E-4D5C-389D-ECC88EAF11EF}"/>
              </a:ext>
            </a:extLst>
          </p:cNvPr>
          <p:cNvSpPr/>
          <p:nvPr/>
        </p:nvSpPr>
        <p:spPr>
          <a:xfrm>
            <a:off x="1289892" y="3503003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89% SLA Compliance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605CDEF-C347-D5C8-98F3-F864C202257C}"/>
              </a:ext>
            </a:extLst>
          </p:cNvPr>
          <p:cNvSpPr/>
          <p:nvPr/>
        </p:nvSpPr>
        <p:spPr>
          <a:xfrm>
            <a:off x="1289892" y="3804755"/>
            <a:ext cx="46153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Service disruptions were frequent in a zero-tolerance port environment.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2FA1B597-7C4E-EB92-A399-852193323457}"/>
              </a:ext>
            </a:extLst>
          </p:cNvPr>
          <p:cNvSpPr/>
          <p:nvPr/>
        </p:nvSpPr>
        <p:spPr>
          <a:xfrm>
            <a:off x="832692" y="4224387"/>
            <a:ext cx="365760" cy="36576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EG" sz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9" name="Image 2" descr="preencoded.png">
            <a:extLst>
              <a:ext uri="{FF2B5EF4-FFF2-40B4-BE49-F238E27FC236}">
                <a16:creationId xmlns:a16="http://schemas.microsoft.com/office/drawing/2014/main" id="{B11365E2-285B-375B-C831-86CEA3F64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844" y="4297539"/>
            <a:ext cx="219456" cy="219456"/>
          </a:xfrm>
          <a:prstGeom prst="rect">
            <a:avLst/>
          </a:prstGeom>
        </p:spPr>
      </p:pic>
      <p:sp>
        <p:nvSpPr>
          <p:cNvPr id="50" name="Text 25">
            <a:extLst>
              <a:ext uri="{FF2B5EF4-FFF2-40B4-BE49-F238E27FC236}">
                <a16:creationId xmlns:a16="http://schemas.microsoft.com/office/drawing/2014/main" id="{74F17B2F-41CC-EC78-9236-9BE621E8CEBF}"/>
              </a:ext>
            </a:extLst>
          </p:cNvPr>
          <p:cNvSpPr/>
          <p:nvPr/>
        </p:nvSpPr>
        <p:spPr>
          <a:xfrm>
            <a:off x="1289892" y="408185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4-Hour MTTR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105D2F46-C0BB-6DEF-723F-3F60FD18BA70}"/>
              </a:ext>
            </a:extLst>
          </p:cNvPr>
          <p:cNvSpPr/>
          <p:nvPr/>
        </p:nvSpPr>
        <p:spPr>
          <a:xfrm>
            <a:off x="1289891" y="4383602"/>
            <a:ext cx="4615301" cy="420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Prolonged outages directly impacted vessel scheduling and cargo throughput.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2AF804A2-D88C-3F03-C0F8-5BFB4C932C77}"/>
              </a:ext>
            </a:extLst>
          </p:cNvPr>
          <p:cNvSpPr/>
          <p:nvPr/>
        </p:nvSpPr>
        <p:spPr>
          <a:xfrm>
            <a:off x="832692" y="4900057"/>
            <a:ext cx="365760" cy="36576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EG" sz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4" name="Image 3" descr="preencoded.png">
            <a:extLst>
              <a:ext uri="{FF2B5EF4-FFF2-40B4-BE49-F238E27FC236}">
                <a16:creationId xmlns:a16="http://schemas.microsoft.com/office/drawing/2014/main" id="{2D5766A5-BDB0-64B6-0CEE-E2B5186E82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844" y="4973209"/>
            <a:ext cx="219456" cy="219456"/>
          </a:xfrm>
          <a:prstGeom prst="rect">
            <a:avLst/>
          </a:prstGeom>
        </p:spPr>
      </p:pic>
      <p:sp>
        <p:nvSpPr>
          <p:cNvPr id="55" name="Text 29">
            <a:extLst>
              <a:ext uri="{FF2B5EF4-FFF2-40B4-BE49-F238E27FC236}">
                <a16:creationId xmlns:a16="http://schemas.microsoft.com/office/drawing/2014/main" id="{76AECC79-5409-CB32-C34F-0E40EB6C31E4}"/>
              </a:ext>
            </a:extLst>
          </p:cNvPr>
          <p:cNvSpPr/>
          <p:nvPr/>
        </p:nvSpPr>
        <p:spPr>
          <a:xfrm>
            <a:off x="1289892" y="4746761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 Expansion Model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7" name="Text 30">
            <a:extLst>
              <a:ext uri="{FF2B5EF4-FFF2-40B4-BE49-F238E27FC236}">
                <a16:creationId xmlns:a16="http://schemas.microsoft.com/office/drawing/2014/main" id="{00B7B0FF-EB67-74DA-25F6-78E169FFDA57}"/>
              </a:ext>
            </a:extLst>
          </p:cNvPr>
          <p:cNvSpPr/>
          <p:nvPr/>
        </p:nvSpPr>
        <p:spPr>
          <a:xfrm>
            <a:off x="1289892" y="5039369"/>
            <a:ext cx="4615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 hoc deployments led to post-go-live fixes and inconsistent architecture standards.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2" name="Shape 51">
            <a:extLst>
              <a:ext uri="{FF2B5EF4-FFF2-40B4-BE49-F238E27FC236}">
                <a16:creationId xmlns:a16="http://schemas.microsoft.com/office/drawing/2014/main" id="{5DB0AFD4-47FA-C38A-8848-5929028554E5}"/>
              </a:ext>
            </a:extLst>
          </p:cNvPr>
          <p:cNvSpPr/>
          <p:nvPr/>
        </p:nvSpPr>
        <p:spPr>
          <a:xfrm>
            <a:off x="571500" y="5735347"/>
            <a:ext cx="2574421" cy="923925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3" name="Shape 52">
            <a:extLst>
              <a:ext uri="{FF2B5EF4-FFF2-40B4-BE49-F238E27FC236}">
                <a16:creationId xmlns:a16="http://schemas.microsoft.com/office/drawing/2014/main" id="{07461BFE-CC34-EF6B-C1C8-121B7A6A469B}"/>
              </a:ext>
            </a:extLst>
          </p:cNvPr>
          <p:cNvSpPr/>
          <p:nvPr/>
        </p:nvSpPr>
        <p:spPr>
          <a:xfrm>
            <a:off x="571500" y="5735347"/>
            <a:ext cx="102176" cy="923925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  <p:sp>
        <p:nvSpPr>
          <p:cNvPr id="64" name="Text 53">
            <a:extLst>
              <a:ext uri="{FF2B5EF4-FFF2-40B4-BE49-F238E27FC236}">
                <a16:creationId xmlns:a16="http://schemas.microsoft.com/office/drawing/2014/main" id="{3167FF14-383D-3512-5C1B-E2EFBBEA6894}"/>
              </a:ext>
            </a:extLst>
          </p:cNvPr>
          <p:cNvSpPr/>
          <p:nvPr/>
        </p:nvSpPr>
        <p:spPr>
          <a:xfrm>
            <a:off x="724764" y="5766403"/>
            <a:ext cx="979186" cy="86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99%</a:t>
            </a:r>
            <a:endParaRPr lang="en-US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5" name="Text 54">
            <a:extLst>
              <a:ext uri="{FF2B5EF4-FFF2-40B4-BE49-F238E27FC236}">
                <a16:creationId xmlns:a16="http://schemas.microsoft.com/office/drawing/2014/main" id="{43156D49-6B16-01D8-6B3D-BE1B2BDA1FFF}"/>
              </a:ext>
            </a:extLst>
          </p:cNvPr>
          <p:cNvSpPr/>
          <p:nvPr/>
        </p:nvSpPr>
        <p:spPr>
          <a:xfrm>
            <a:off x="1646559" y="5963598"/>
            <a:ext cx="1499362" cy="27950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SLA Achievement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6" name="Text 55">
            <a:extLst>
              <a:ext uri="{FF2B5EF4-FFF2-40B4-BE49-F238E27FC236}">
                <a16:creationId xmlns:a16="http://schemas.microsoft.com/office/drawing/2014/main" id="{CB02C93D-AE05-6D23-46D7-0630034072DC}"/>
              </a:ext>
            </a:extLst>
          </p:cNvPr>
          <p:cNvSpPr/>
          <p:nvPr/>
        </p:nvSpPr>
        <p:spPr>
          <a:xfrm>
            <a:off x="1646558" y="6250870"/>
            <a:ext cx="1431456" cy="21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Up from 89%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8" name="Shape 56">
            <a:extLst>
              <a:ext uri="{FF2B5EF4-FFF2-40B4-BE49-F238E27FC236}">
                <a16:creationId xmlns:a16="http://schemas.microsoft.com/office/drawing/2014/main" id="{8D688E6A-7E15-264F-D4A6-5B0407C51DA6}"/>
              </a:ext>
            </a:extLst>
          </p:cNvPr>
          <p:cNvSpPr/>
          <p:nvPr/>
        </p:nvSpPr>
        <p:spPr>
          <a:xfrm>
            <a:off x="3425272" y="5735347"/>
            <a:ext cx="2581877" cy="923924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Shape 57">
            <a:extLst>
              <a:ext uri="{FF2B5EF4-FFF2-40B4-BE49-F238E27FC236}">
                <a16:creationId xmlns:a16="http://schemas.microsoft.com/office/drawing/2014/main" id="{82728997-E566-2C8F-4885-3B54E19B4A78}"/>
              </a:ext>
            </a:extLst>
          </p:cNvPr>
          <p:cNvSpPr/>
          <p:nvPr/>
        </p:nvSpPr>
        <p:spPr>
          <a:xfrm>
            <a:off x="3425272" y="5735347"/>
            <a:ext cx="89804" cy="923924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  <p:sp>
        <p:nvSpPr>
          <p:cNvPr id="70" name="Text 58">
            <a:extLst>
              <a:ext uri="{FF2B5EF4-FFF2-40B4-BE49-F238E27FC236}">
                <a16:creationId xmlns:a16="http://schemas.microsoft.com/office/drawing/2014/main" id="{C44EA79F-6FE2-D880-B19A-C97800CC0F57}"/>
              </a:ext>
            </a:extLst>
          </p:cNvPr>
          <p:cNvSpPr/>
          <p:nvPr/>
        </p:nvSpPr>
        <p:spPr>
          <a:xfrm>
            <a:off x="3559979" y="5766403"/>
            <a:ext cx="860626" cy="861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75%</a:t>
            </a:r>
          </a:p>
        </p:txBody>
      </p:sp>
      <p:sp>
        <p:nvSpPr>
          <p:cNvPr id="71" name="Text 59">
            <a:extLst>
              <a:ext uri="{FF2B5EF4-FFF2-40B4-BE49-F238E27FC236}">
                <a16:creationId xmlns:a16="http://schemas.microsoft.com/office/drawing/2014/main" id="{F9534A14-483F-6592-BA82-2A81D4D12421}"/>
              </a:ext>
            </a:extLst>
          </p:cNvPr>
          <p:cNvSpPr/>
          <p:nvPr/>
        </p:nvSpPr>
        <p:spPr>
          <a:xfrm>
            <a:off x="4445340" y="5958338"/>
            <a:ext cx="1421903" cy="2795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MTTR</a:t>
            </a:r>
            <a:r>
              <a:rPr lang="en-US" sz="10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Reduction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Text 60">
            <a:extLst>
              <a:ext uri="{FF2B5EF4-FFF2-40B4-BE49-F238E27FC236}">
                <a16:creationId xmlns:a16="http://schemas.microsoft.com/office/drawing/2014/main" id="{4DABC127-182D-D965-6F0D-6703ACA7CA56}"/>
              </a:ext>
            </a:extLst>
          </p:cNvPr>
          <p:cNvSpPr/>
          <p:nvPr/>
        </p:nvSpPr>
        <p:spPr>
          <a:xfrm>
            <a:off x="4428424" y="6252368"/>
            <a:ext cx="1421903" cy="24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 hrs → 1 hr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Shape 61">
            <a:extLst>
              <a:ext uri="{FF2B5EF4-FFF2-40B4-BE49-F238E27FC236}">
                <a16:creationId xmlns:a16="http://schemas.microsoft.com/office/drawing/2014/main" id="{8D980A94-7D7F-D9EA-2D50-49970A783775}"/>
              </a:ext>
            </a:extLst>
          </p:cNvPr>
          <p:cNvSpPr/>
          <p:nvPr/>
        </p:nvSpPr>
        <p:spPr>
          <a:xfrm>
            <a:off x="6273269" y="5734519"/>
            <a:ext cx="2572207" cy="924753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Shape 62">
            <a:extLst>
              <a:ext uri="{FF2B5EF4-FFF2-40B4-BE49-F238E27FC236}">
                <a16:creationId xmlns:a16="http://schemas.microsoft.com/office/drawing/2014/main" id="{5B5F9A7F-A94E-0756-5719-A23EAB10F988}"/>
              </a:ext>
            </a:extLst>
          </p:cNvPr>
          <p:cNvSpPr/>
          <p:nvPr/>
        </p:nvSpPr>
        <p:spPr>
          <a:xfrm>
            <a:off x="6273269" y="5734519"/>
            <a:ext cx="89468" cy="924753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  <p:sp>
        <p:nvSpPr>
          <p:cNvPr id="76" name="Text 63">
            <a:extLst>
              <a:ext uri="{FF2B5EF4-FFF2-40B4-BE49-F238E27FC236}">
                <a16:creationId xmlns:a16="http://schemas.microsoft.com/office/drawing/2014/main" id="{4AF8C192-6D10-7465-F15B-3F05D0FE85B1}"/>
              </a:ext>
            </a:extLst>
          </p:cNvPr>
          <p:cNvSpPr/>
          <p:nvPr/>
        </p:nvSpPr>
        <p:spPr>
          <a:xfrm>
            <a:off x="6407471" y="5765603"/>
            <a:ext cx="857402" cy="862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</a:t>
            </a:r>
            <a:endParaRPr lang="en-US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Text 64">
            <a:extLst>
              <a:ext uri="{FF2B5EF4-FFF2-40B4-BE49-F238E27FC236}">
                <a16:creationId xmlns:a16="http://schemas.microsoft.com/office/drawing/2014/main" id="{F57115F4-3431-4C95-F2EC-3B2BF4F53698}"/>
              </a:ext>
            </a:extLst>
          </p:cNvPr>
          <p:cNvSpPr/>
          <p:nvPr/>
        </p:nvSpPr>
        <p:spPr>
          <a:xfrm>
            <a:off x="6999072" y="5963348"/>
            <a:ext cx="1768521" cy="2797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Monitoring Platforms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Text 65">
            <a:extLst>
              <a:ext uri="{FF2B5EF4-FFF2-40B4-BE49-F238E27FC236}">
                <a16:creationId xmlns:a16="http://schemas.microsoft.com/office/drawing/2014/main" id="{0F097C82-F415-345D-8851-32FFCD0A9BD0}"/>
              </a:ext>
            </a:extLst>
          </p:cNvPr>
          <p:cNvSpPr/>
          <p:nvPr/>
        </p:nvSpPr>
        <p:spPr>
          <a:xfrm>
            <a:off x="6996120" y="6255179"/>
            <a:ext cx="1416578" cy="27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From zero to full visibility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0" name="Shape 66">
            <a:extLst>
              <a:ext uri="{FF2B5EF4-FFF2-40B4-BE49-F238E27FC236}">
                <a16:creationId xmlns:a16="http://schemas.microsoft.com/office/drawing/2014/main" id="{EE6DFB2F-79A3-794D-D1B3-D39991680052}"/>
              </a:ext>
            </a:extLst>
          </p:cNvPr>
          <p:cNvSpPr/>
          <p:nvPr/>
        </p:nvSpPr>
        <p:spPr>
          <a:xfrm>
            <a:off x="9046081" y="5733180"/>
            <a:ext cx="2581877" cy="923924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1" name="Shape 67">
            <a:extLst>
              <a:ext uri="{FF2B5EF4-FFF2-40B4-BE49-F238E27FC236}">
                <a16:creationId xmlns:a16="http://schemas.microsoft.com/office/drawing/2014/main" id="{AF910EB3-2302-B6D5-B6F0-E8EB0229AFDF}"/>
              </a:ext>
            </a:extLst>
          </p:cNvPr>
          <p:cNvSpPr/>
          <p:nvPr/>
        </p:nvSpPr>
        <p:spPr>
          <a:xfrm>
            <a:off x="9046081" y="5733180"/>
            <a:ext cx="89804" cy="923924"/>
          </a:xfrm>
          <a:prstGeom prst="rect">
            <a:avLst/>
          </a:prstGeom>
          <a:solidFill>
            <a:srgbClr val="FFB814"/>
          </a:solidFill>
        </p:spPr>
        <p:txBody>
          <a:bodyPr/>
          <a:lstStyle/>
          <a:p>
            <a:endParaRPr lang="en-EG" sz="1688" b="1"/>
          </a:p>
        </p:txBody>
      </p:sp>
      <p:sp>
        <p:nvSpPr>
          <p:cNvPr id="82" name="Text 68">
            <a:extLst>
              <a:ext uri="{FF2B5EF4-FFF2-40B4-BE49-F238E27FC236}">
                <a16:creationId xmlns:a16="http://schemas.microsoft.com/office/drawing/2014/main" id="{58AD3388-B522-E66F-0D00-6331B6BD240C}"/>
              </a:ext>
            </a:extLst>
          </p:cNvPr>
          <p:cNvSpPr/>
          <p:nvPr/>
        </p:nvSpPr>
        <p:spPr>
          <a:xfrm>
            <a:off x="9159272" y="5764236"/>
            <a:ext cx="860626" cy="861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24/7</a:t>
            </a:r>
          </a:p>
        </p:txBody>
      </p:sp>
      <p:sp>
        <p:nvSpPr>
          <p:cNvPr id="83" name="Text 69">
            <a:extLst>
              <a:ext uri="{FF2B5EF4-FFF2-40B4-BE49-F238E27FC236}">
                <a16:creationId xmlns:a16="http://schemas.microsoft.com/office/drawing/2014/main" id="{9AD9FADC-7B16-50EB-F2B2-1B5A26D1404E}"/>
              </a:ext>
            </a:extLst>
          </p:cNvPr>
          <p:cNvSpPr/>
          <p:nvPr/>
        </p:nvSpPr>
        <p:spPr>
          <a:xfrm>
            <a:off x="10093686" y="6012128"/>
            <a:ext cx="1526510" cy="2795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Operations Coverage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4" name="Text 70">
            <a:extLst>
              <a:ext uri="{FF2B5EF4-FFF2-40B4-BE49-F238E27FC236}">
                <a16:creationId xmlns:a16="http://schemas.microsoft.com/office/drawing/2014/main" id="{4883C607-86D6-E86A-AE01-033D3B2D3360}"/>
              </a:ext>
            </a:extLst>
          </p:cNvPr>
          <p:cNvSpPr/>
          <p:nvPr/>
        </p:nvSpPr>
        <p:spPr>
          <a:xfrm>
            <a:off x="10109245" y="6304660"/>
            <a:ext cx="1421903" cy="275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Always-on reliability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60C9421D-5E8A-1380-1097-D28EDABE159E}"/>
              </a:ext>
            </a:extLst>
          </p:cNvPr>
          <p:cNvSpPr/>
          <p:nvPr/>
        </p:nvSpPr>
        <p:spPr>
          <a:xfrm>
            <a:off x="6286500" y="2705710"/>
            <a:ext cx="5333695" cy="91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143A6A8D-2B46-19E4-ECEB-8437B2ACB650}"/>
              </a:ext>
            </a:extLst>
          </p:cNvPr>
          <p:cNvSpPr/>
          <p:nvPr/>
        </p:nvSpPr>
        <p:spPr>
          <a:xfrm>
            <a:off x="6286500" y="2782469"/>
            <a:ext cx="2558975" cy="1360677"/>
          </a:xfrm>
          <a:prstGeom prst="rect">
            <a:avLst/>
          </a:prstGeom>
          <a:solidFill>
            <a:srgbClr val="97CFFA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Shape 32">
            <a:extLst>
              <a:ext uri="{FF2B5EF4-FFF2-40B4-BE49-F238E27FC236}">
                <a16:creationId xmlns:a16="http://schemas.microsoft.com/office/drawing/2014/main" id="{0C3EE999-BBCA-F499-8A06-E7D015601712}"/>
              </a:ext>
            </a:extLst>
          </p:cNvPr>
          <p:cNvSpPr/>
          <p:nvPr/>
        </p:nvSpPr>
        <p:spPr>
          <a:xfrm>
            <a:off x="6286500" y="2782468"/>
            <a:ext cx="2558975" cy="8826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EG" sz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Shape 33">
            <a:extLst>
              <a:ext uri="{FF2B5EF4-FFF2-40B4-BE49-F238E27FC236}">
                <a16:creationId xmlns:a16="http://schemas.microsoft.com/office/drawing/2014/main" id="{7B246B60-D762-8052-CC35-18BD65B2C200}"/>
              </a:ext>
            </a:extLst>
          </p:cNvPr>
          <p:cNvSpPr/>
          <p:nvPr/>
        </p:nvSpPr>
        <p:spPr>
          <a:xfrm>
            <a:off x="7277071" y="2923690"/>
            <a:ext cx="577833" cy="494276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20" name="Image 4" descr="preencoded.png">
            <a:extLst>
              <a:ext uri="{FF2B5EF4-FFF2-40B4-BE49-F238E27FC236}">
                <a16:creationId xmlns:a16="http://schemas.microsoft.com/office/drawing/2014/main" id="{CCEDCC92-2F4D-919F-AD0E-32DE8E7CD6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619" y="2994300"/>
            <a:ext cx="412738" cy="353054"/>
          </a:xfrm>
          <a:prstGeom prst="rect">
            <a:avLst/>
          </a:prstGeom>
        </p:spPr>
      </p:pic>
      <p:sp>
        <p:nvSpPr>
          <p:cNvPr id="21" name="Text 34">
            <a:extLst>
              <a:ext uri="{FF2B5EF4-FFF2-40B4-BE49-F238E27FC236}">
                <a16:creationId xmlns:a16="http://schemas.microsoft.com/office/drawing/2014/main" id="{15924C59-5D65-B880-6333-B3ADB30D898C}"/>
              </a:ext>
            </a:extLst>
          </p:cNvPr>
          <p:cNvSpPr/>
          <p:nvPr/>
        </p:nvSpPr>
        <p:spPr>
          <a:xfrm>
            <a:off x="6389684" y="3319313"/>
            <a:ext cx="2352606" cy="33540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Network Operations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Text 35">
            <a:extLst>
              <a:ext uri="{FF2B5EF4-FFF2-40B4-BE49-F238E27FC236}">
                <a16:creationId xmlns:a16="http://schemas.microsoft.com/office/drawing/2014/main" id="{F7BA7726-EFBC-EA57-7B1B-9730C1B0621F}"/>
              </a:ext>
            </a:extLst>
          </p:cNvPr>
          <p:cNvSpPr/>
          <p:nvPr/>
        </p:nvSpPr>
        <p:spPr>
          <a:xfrm>
            <a:off x="6441277" y="3672367"/>
            <a:ext cx="2249422" cy="437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End-to-end management of all SC-Zone network fabric ensuring connectivity integrity across sites.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hape 36">
            <a:extLst>
              <a:ext uri="{FF2B5EF4-FFF2-40B4-BE49-F238E27FC236}">
                <a16:creationId xmlns:a16="http://schemas.microsoft.com/office/drawing/2014/main" id="{C2365B48-1B3D-E08E-C0E7-D904E71A9207}"/>
              </a:ext>
            </a:extLst>
          </p:cNvPr>
          <p:cNvSpPr/>
          <p:nvPr/>
        </p:nvSpPr>
        <p:spPr>
          <a:xfrm>
            <a:off x="9046081" y="2782469"/>
            <a:ext cx="2574113" cy="1360678"/>
          </a:xfrm>
          <a:prstGeom prst="rect">
            <a:avLst/>
          </a:prstGeom>
          <a:solidFill>
            <a:srgbClr val="97CFFA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0" name="Shape 37">
            <a:extLst>
              <a:ext uri="{FF2B5EF4-FFF2-40B4-BE49-F238E27FC236}">
                <a16:creationId xmlns:a16="http://schemas.microsoft.com/office/drawing/2014/main" id="{5E0B4C80-FF0A-0A7F-578C-114BCA63A5CA}"/>
              </a:ext>
            </a:extLst>
          </p:cNvPr>
          <p:cNvSpPr/>
          <p:nvPr/>
        </p:nvSpPr>
        <p:spPr>
          <a:xfrm>
            <a:off x="9046081" y="2782468"/>
            <a:ext cx="2574113" cy="88264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EG" sz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Shape 38">
            <a:extLst>
              <a:ext uri="{FF2B5EF4-FFF2-40B4-BE49-F238E27FC236}">
                <a16:creationId xmlns:a16="http://schemas.microsoft.com/office/drawing/2014/main" id="{F58D9E53-A0BD-0BFE-D591-C9DA5CB99552}"/>
              </a:ext>
            </a:extLst>
          </p:cNvPr>
          <p:cNvSpPr/>
          <p:nvPr/>
        </p:nvSpPr>
        <p:spPr>
          <a:xfrm>
            <a:off x="10042512" y="2923690"/>
            <a:ext cx="581251" cy="494276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32" name="Image 5" descr="preencoded.png">
            <a:extLst>
              <a:ext uri="{FF2B5EF4-FFF2-40B4-BE49-F238E27FC236}">
                <a16:creationId xmlns:a16="http://schemas.microsoft.com/office/drawing/2014/main" id="{A97DA54E-924A-EB01-A64E-74EA343A97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5548" y="2994301"/>
            <a:ext cx="415180" cy="353054"/>
          </a:xfrm>
          <a:prstGeom prst="rect">
            <a:avLst/>
          </a:prstGeom>
        </p:spPr>
      </p:pic>
      <p:sp>
        <p:nvSpPr>
          <p:cNvPr id="33" name="Text 39">
            <a:extLst>
              <a:ext uri="{FF2B5EF4-FFF2-40B4-BE49-F238E27FC236}">
                <a16:creationId xmlns:a16="http://schemas.microsoft.com/office/drawing/2014/main" id="{B74DDBA8-3F0F-93EF-9680-16DD434636D7}"/>
              </a:ext>
            </a:extLst>
          </p:cNvPr>
          <p:cNvSpPr/>
          <p:nvPr/>
        </p:nvSpPr>
        <p:spPr>
          <a:xfrm>
            <a:off x="9149876" y="3319313"/>
            <a:ext cx="2366523" cy="335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Network Security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4" name="Text 40">
            <a:extLst>
              <a:ext uri="{FF2B5EF4-FFF2-40B4-BE49-F238E27FC236}">
                <a16:creationId xmlns:a16="http://schemas.microsoft.com/office/drawing/2014/main" id="{0ED292C1-4736-7BEA-F3A4-42E5077DFD68}"/>
              </a:ext>
            </a:extLst>
          </p:cNvPr>
          <p:cNvSpPr/>
          <p:nvPr/>
        </p:nvSpPr>
        <p:spPr>
          <a:xfrm>
            <a:off x="9201773" y="3672367"/>
            <a:ext cx="2262728" cy="45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Continuous security management with consistent posture and rapid threat response across all zones.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6" name="Shape 41">
            <a:extLst>
              <a:ext uri="{FF2B5EF4-FFF2-40B4-BE49-F238E27FC236}">
                <a16:creationId xmlns:a16="http://schemas.microsoft.com/office/drawing/2014/main" id="{F7C919FD-A59D-A70D-910B-422F15B03AB0}"/>
              </a:ext>
            </a:extLst>
          </p:cNvPr>
          <p:cNvSpPr/>
          <p:nvPr/>
        </p:nvSpPr>
        <p:spPr>
          <a:xfrm>
            <a:off x="6286500" y="4249267"/>
            <a:ext cx="2572207" cy="1289517"/>
          </a:xfrm>
          <a:prstGeom prst="rect">
            <a:avLst/>
          </a:prstGeom>
          <a:solidFill>
            <a:srgbClr val="97CFFA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Shape 42">
            <a:extLst>
              <a:ext uri="{FF2B5EF4-FFF2-40B4-BE49-F238E27FC236}">
                <a16:creationId xmlns:a16="http://schemas.microsoft.com/office/drawing/2014/main" id="{C263C4F3-70F6-E7D5-B0D2-3A3298969A15}"/>
              </a:ext>
            </a:extLst>
          </p:cNvPr>
          <p:cNvSpPr/>
          <p:nvPr/>
        </p:nvSpPr>
        <p:spPr>
          <a:xfrm>
            <a:off x="6286500" y="4249267"/>
            <a:ext cx="2572207" cy="7950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EG" sz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Shape 43">
            <a:extLst>
              <a:ext uri="{FF2B5EF4-FFF2-40B4-BE49-F238E27FC236}">
                <a16:creationId xmlns:a16="http://schemas.microsoft.com/office/drawing/2014/main" id="{DC54934A-90A6-FA6C-F0FC-793FC212601B}"/>
              </a:ext>
            </a:extLst>
          </p:cNvPr>
          <p:cNvSpPr/>
          <p:nvPr/>
        </p:nvSpPr>
        <p:spPr>
          <a:xfrm>
            <a:off x="7282193" y="4376470"/>
            <a:ext cx="580821" cy="445209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9" name="Image 6" descr="preencoded.png">
            <a:extLst>
              <a:ext uri="{FF2B5EF4-FFF2-40B4-BE49-F238E27FC236}">
                <a16:creationId xmlns:a16="http://schemas.microsoft.com/office/drawing/2014/main" id="{3318C742-FF2F-C6F9-3205-1F2CE440C3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5167" y="4440071"/>
            <a:ext cx="414872" cy="318006"/>
          </a:xfrm>
          <a:prstGeom prst="rect">
            <a:avLst/>
          </a:prstGeom>
        </p:spPr>
      </p:pic>
      <p:sp>
        <p:nvSpPr>
          <p:cNvPr id="40" name="Text 44">
            <a:extLst>
              <a:ext uri="{FF2B5EF4-FFF2-40B4-BE49-F238E27FC236}">
                <a16:creationId xmlns:a16="http://schemas.microsoft.com/office/drawing/2014/main" id="{3C3AA5C7-FCEB-A3D3-344D-00F11B47C15C}"/>
              </a:ext>
            </a:extLst>
          </p:cNvPr>
          <p:cNvSpPr/>
          <p:nvPr/>
        </p:nvSpPr>
        <p:spPr>
          <a:xfrm>
            <a:off x="6390218" y="4732821"/>
            <a:ext cx="2364771" cy="3021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Systems Administration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1" name="Text 45">
            <a:extLst>
              <a:ext uri="{FF2B5EF4-FFF2-40B4-BE49-F238E27FC236}">
                <a16:creationId xmlns:a16="http://schemas.microsoft.com/office/drawing/2014/main" id="{11FC77FD-790C-0568-D62E-ED076BBBF5A3}"/>
              </a:ext>
            </a:extLst>
          </p:cNvPr>
          <p:cNvSpPr/>
          <p:nvPr/>
        </p:nvSpPr>
        <p:spPr>
          <a:xfrm>
            <a:off x="6442077" y="5050827"/>
            <a:ext cx="2261053" cy="319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dirty="0">
                <a:solidFill>
                  <a:srgbClr val="2C3E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Enterprise-grade server, storage &amp; application platforms replacing legacy technology stacks.</a:t>
            </a:r>
          </a:p>
        </p:txBody>
      </p:sp>
      <p:sp>
        <p:nvSpPr>
          <p:cNvPr id="43" name="Shape 46">
            <a:extLst>
              <a:ext uri="{FF2B5EF4-FFF2-40B4-BE49-F238E27FC236}">
                <a16:creationId xmlns:a16="http://schemas.microsoft.com/office/drawing/2014/main" id="{08B80AAB-3CA7-F12D-164A-2F2C45903A96}"/>
              </a:ext>
            </a:extLst>
          </p:cNvPr>
          <p:cNvSpPr/>
          <p:nvPr/>
        </p:nvSpPr>
        <p:spPr>
          <a:xfrm>
            <a:off x="9046081" y="4249267"/>
            <a:ext cx="2574112" cy="1289517"/>
          </a:xfrm>
          <a:prstGeom prst="rect">
            <a:avLst/>
          </a:prstGeom>
          <a:solidFill>
            <a:srgbClr val="97CFFA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E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Shape 47">
            <a:extLst>
              <a:ext uri="{FF2B5EF4-FFF2-40B4-BE49-F238E27FC236}">
                <a16:creationId xmlns:a16="http://schemas.microsoft.com/office/drawing/2014/main" id="{35F89C6A-CB10-4214-20C7-5A3D0380AC5C}"/>
              </a:ext>
            </a:extLst>
          </p:cNvPr>
          <p:cNvSpPr/>
          <p:nvPr/>
        </p:nvSpPr>
        <p:spPr>
          <a:xfrm>
            <a:off x="9046081" y="4249267"/>
            <a:ext cx="2574112" cy="7950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EG" sz="12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Shape 48">
            <a:extLst>
              <a:ext uri="{FF2B5EF4-FFF2-40B4-BE49-F238E27FC236}">
                <a16:creationId xmlns:a16="http://schemas.microsoft.com/office/drawing/2014/main" id="{B6C16DE2-09F2-0F8C-B5BB-CF684972FF10}"/>
              </a:ext>
            </a:extLst>
          </p:cNvPr>
          <p:cNvSpPr/>
          <p:nvPr/>
        </p:nvSpPr>
        <p:spPr>
          <a:xfrm>
            <a:off x="10042511" y="4376470"/>
            <a:ext cx="581251" cy="445209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pic>
        <p:nvPicPr>
          <p:cNvPr id="46" name="Image 7" descr="preencoded.png">
            <a:extLst>
              <a:ext uri="{FF2B5EF4-FFF2-40B4-BE49-F238E27FC236}">
                <a16:creationId xmlns:a16="http://schemas.microsoft.com/office/drawing/2014/main" id="{0E28A1CE-9AD5-D022-BACE-D4DFF72519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5547" y="4440071"/>
            <a:ext cx="415179" cy="318006"/>
          </a:xfrm>
          <a:prstGeom prst="rect">
            <a:avLst/>
          </a:prstGeom>
        </p:spPr>
      </p:pic>
      <p:sp>
        <p:nvSpPr>
          <p:cNvPr id="47" name="Text 49">
            <a:extLst>
              <a:ext uri="{FF2B5EF4-FFF2-40B4-BE49-F238E27FC236}">
                <a16:creationId xmlns:a16="http://schemas.microsoft.com/office/drawing/2014/main" id="{C5CD9084-98BE-84D9-B743-CB582136B3FE}"/>
              </a:ext>
            </a:extLst>
          </p:cNvPr>
          <p:cNvSpPr/>
          <p:nvPr/>
        </p:nvSpPr>
        <p:spPr>
          <a:xfrm>
            <a:off x="9149876" y="4732821"/>
            <a:ext cx="2366522" cy="3021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Helpdesk + EM Support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FBC471F2-0DB7-AB2C-B521-F170407EE966}"/>
              </a:ext>
            </a:extLst>
          </p:cNvPr>
          <p:cNvSpPr/>
          <p:nvPr/>
        </p:nvSpPr>
        <p:spPr>
          <a:xfrm>
            <a:off x="9201773" y="5050827"/>
            <a:ext cx="2262727" cy="319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24/7-tiered helpdesk with defined SLAs, escalation paths, and electro-mechanical facilities coverage.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1" name="Image 1" descr="/home/claude/icons/check.png">
            <a:extLst>
              <a:ext uri="{FF2B5EF4-FFF2-40B4-BE49-F238E27FC236}">
                <a16:creationId xmlns:a16="http://schemas.microsoft.com/office/drawing/2014/main" id="{394C2C3B-F69B-33B5-7848-B035A8405A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46076" y="1508760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91870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186</Words>
  <Application>Microsoft Macintosh PowerPoint</Application>
  <PresentationFormat>Widescreen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Mostafa Younes</dc:creator>
  <cp:lastModifiedBy>Mostafa Younes</cp:lastModifiedBy>
  <cp:revision>9</cp:revision>
  <dcterms:created xsi:type="dcterms:W3CDTF">2026-03-01T12:58:12Z</dcterms:created>
  <dcterms:modified xsi:type="dcterms:W3CDTF">2026-05-11T22:42:55Z</dcterms:modified>
</cp:coreProperties>
</file>