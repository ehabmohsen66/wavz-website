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147483525" r:id="rId2"/>
  </p:sldIdLst>
  <p:sldSz cx="12192000" cy="6858000"/>
  <p:notesSz cx="6858000" cy="9144000"/>
  <p:defaultTextStyle>
    <a:defPPr>
      <a:defRPr lang="en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64"/>
    <p:restoredTop sz="94658"/>
  </p:normalViewPr>
  <p:slideViewPr>
    <p:cSldViewPr snapToGrid="0">
      <p:cViewPr varScale="1">
        <p:scale>
          <a:sx n="120" d="100"/>
          <a:sy n="120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54C4CC-1C88-E446-B1B4-2F4437049F08}" type="datetimeFigureOut">
              <a:rPr lang="en-EG" smtClean="0"/>
              <a:t>12/05/2026</a:t>
            </a:fld>
            <a:endParaRPr lang="en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242CE4-12FC-B24C-9420-7916890DFA96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63181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latinLnBrk="0"/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780069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048D2-D183-27CE-ADB0-B3C81D7E10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094BA6-C94D-90E0-F567-80944D51A0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0D1B4-930A-60C8-FEED-B345478D6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FF0D4-7EFF-6E4C-B5C7-F2726EEDB699}" type="datetimeFigureOut">
              <a:rPr lang="en-EG" smtClean="0"/>
              <a:t>12/05/2026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2B1CE-96A4-9138-4AB5-2F514ECA9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9007D-BD58-EFA0-5B0A-C796E8D6B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300-37B2-C74E-B94F-AD5E8CF3F4F1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659813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5A553-DAC6-E27E-2889-84E9676D3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1890D-D393-719F-F636-ACF85B05F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5E4D6-66D2-0FC7-7E36-26C0BB21E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FF0D4-7EFF-6E4C-B5C7-F2726EEDB699}" type="datetimeFigureOut">
              <a:rPr lang="en-EG" smtClean="0"/>
              <a:t>12/05/2026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71774-EEE3-CBF9-482C-5F65B9E85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D3CC2-0D66-1748-3C9D-406BD7F69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300-37B2-C74E-B94F-AD5E8CF3F4F1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29293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DABF0-8A4C-A0A8-4D66-3A83950B6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347-FF71-5781-95D4-0E88A3ACE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3BBFF-0FA8-F6A5-478A-5605F41AB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FF0D4-7EFF-6E4C-B5C7-F2726EEDB699}" type="datetimeFigureOut">
              <a:rPr lang="en-EG" smtClean="0"/>
              <a:t>12/05/2026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C97C0-305B-7432-002F-FC02F9CD4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BA9FA-1A5B-5310-209A-D12497F9F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300-37B2-C74E-B94F-AD5E8CF3F4F1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913341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DBC3A-CC6C-0944-C84B-1081D925C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5B3EF-51CF-3F58-6BE9-F3A7852161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A9C960-42C5-6CCE-183E-AB46BED8E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60ABD-2E45-426E-5A08-68797A9C8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FF0D4-7EFF-6E4C-B5C7-F2726EEDB699}" type="datetimeFigureOut">
              <a:rPr lang="en-EG" smtClean="0"/>
              <a:t>12/05/2026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C88959-4B21-C3E0-459C-02AFBAE3B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AEAA9-DD53-C697-0832-FFB077F95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300-37B2-C74E-B94F-AD5E8CF3F4F1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49985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82801-C254-4B51-2ECB-BE13FD4ED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B5905-3D10-E78F-6FA2-A1EC3B76B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022A3-97E2-3110-CFE8-FACDF692E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16A3AD-8D92-8AAB-490C-1D2E323DE2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B58433-74AA-CAE3-6EC4-A70364ACC2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E3D9AE-4E3D-0578-C78C-E531A78C5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FF0D4-7EFF-6E4C-B5C7-F2726EEDB699}" type="datetimeFigureOut">
              <a:rPr lang="en-EG" smtClean="0"/>
              <a:t>12/05/2026</a:t>
            </a:fld>
            <a:endParaRPr lang="en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C3B3AF-6344-9CBE-5816-BD0F959B7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923BDD-3FF1-8238-6901-65AA00FA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300-37B2-C74E-B94F-AD5E8CF3F4F1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914902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261CE-28CE-B15C-ACA9-D95D24769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A9DAFB-11E2-AA1F-95C0-26F6769F2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FF0D4-7EFF-6E4C-B5C7-F2726EEDB699}" type="datetimeFigureOut">
              <a:rPr lang="en-EG" smtClean="0"/>
              <a:t>12/05/2026</a:t>
            </a:fld>
            <a:endParaRPr lang="en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07874-7BC2-8DC9-E4FD-65B4CC0AC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A05D21-80E8-443F-8014-D692C9144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300-37B2-C74E-B94F-AD5E8CF3F4F1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22789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737259-E892-242D-A423-9C804C0DF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FF0D4-7EFF-6E4C-B5C7-F2726EEDB699}" type="datetimeFigureOut">
              <a:rPr lang="en-EG" smtClean="0"/>
              <a:t>12/05/2026</a:t>
            </a:fld>
            <a:endParaRPr lang="en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78C4A-5246-042B-6952-79B289303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31D11-CF0E-4974-A61C-9AE679E0C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300-37B2-C74E-B94F-AD5E8CF3F4F1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925995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3F990-48D7-F623-D80F-DBF0D83B5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05CF2-9F5E-ADCE-315E-76C251D61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DFA9FA-D796-2A7B-42CE-02B5E3E5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E845C-D944-D9B6-A44E-AFD053B66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FF0D4-7EFF-6E4C-B5C7-F2726EEDB699}" type="datetimeFigureOut">
              <a:rPr lang="en-EG" smtClean="0"/>
              <a:t>12/05/2026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A3954-DC96-1F20-F7AF-292D34795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EC27A-A204-229B-7EF6-92418D185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300-37B2-C74E-B94F-AD5E8CF3F4F1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256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5752B-5D36-C9A4-3685-E58B0495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6A8346-BABD-FADC-8E07-FE492BA8D3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29CBF-2F11-20F4-CD95-5ADD72079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06B15-8390-8941-55A0-5378B1CD7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FF0D4-7EFF-6E4C-B5C7-F2726EEDB699}" type="datetimeFigureOut">
              <a:rPr lang="en-EG" smtClean="0"/>
              <a:t>12/05/2026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E71986-11EA-9103-AF8B-03FC5D407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05012-25ED-D977-D10D-EC41A8E7E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300-37B2-C74E-B94F-AD5E8CF3F4F1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78145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9F290-F294-0B1D-255F-80E321DB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21E9D6-B01E-EB37-F720-45197242E7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96B00-45D2-59A7-E8FF-69DA5E7E7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FF0D4-7EFF-6E4C-B5C7-F2726EEDB699}" type="datetimeFigureOut">
              <a:rPr lang="en-EG" smtClean="0"/>
              <a:t>12/05/2026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F5772-4250-E634-F1FC-DA8A2457C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DAE4C-A5BC-10A1-D923-F5C1EC6E4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300-37B2-C74E-B94F-AD5E8CF3F4F1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06725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A2C1E4-DB48-D9EB-7BAF-8504A8C36D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2CABE6-774B-F24C-1CEE-8F799ED76C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B13D8-48E3-A137-379F-FACE9A8FE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FF0D4-7EFF-6E4C-B5C7-F2726EEDB699}" type="datetimeFigureOut">
              <a:rPr lang="en-EG" smtClean="0"/>
              <a:t>12/05/2026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35917-5908-00E8-6DDB-AA5095A28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0CC3A-D04A-B9DB-9494-CA673B3D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300-37B2-C74E-B94F-AD5E8CF3F4F1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62028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icture Placeholder 3"/>
          <p:cNvSpPr>
            <a:spLocks noGrp="1"/>
          </p:cNvSpPr>
          <p:nvPr>
            <p:ph type="pic" idx="13"/>
          </p:nvPr>
        </p:nvSpPr>
        <p:spPr>
          <a:xfrm>
            <a:off x="179294" y="2975112"/>
            <a:ext cx="11833412" cy="3041376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1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C227258-C040-924E-9C3B-6DA0810689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7645" y="-190808"/>
            <a:ext cx="1499514" cy="148475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7E198B5-63E0-082B-5DA1-92EA025B8471}"/>
              </a:ext>
            </a:extLst>
          </p:cNvPr>
          <p:cNvGrpSpPr/>
          <p:nvPr userDrawn="1"/>
        </p:nvGrpSpPr>
        <p:grpSpPr>
          <a:xfrm>
            <a:off x="10369095" y="-1675594"/>
            <a:ext cx="2272718" cy="4909522"/>
            <a:chOff x="10369095" y="-1675594"/>
            <a:chExt cx="2272718" cy="4909522"/>
          </a:xfrm>
        </p:grpSpPr>
        <p:sp>
          <p:nvSpPr>
            <p:cNvPr id="4" name="Moon 3">
              <a:extLst>
                <a:ext uri="{FF2B5EF4-FFF2-40B4-BE49-F238E27FC236}">
                  <a16:creationId xmlns:a16="http://schemas.microsoft.com/office/drawing/2014/main" id="{1F30E9D6-555A-70EF-9070-A729D2986068}"/>
                </a:ext>
              </a:extLst>
            </p:cNvPr>
            <p:cNvSpPr/>
            <p:nvPr/>
          </p:nvSpPr>
          <p:spPr>
            <a:xfrm rot="8261318">
              <a:off x="10397699" y="-1395487"/>
              <a:ext cx="2244114" cy="4629415"/>
            </a:xfrm>
            <a:prstGeom prst="moon">
              <a:avLst/>
            </a:prstGeom>
            <a:solidFill>
              <a:srgbClr val="FFB814"/>
            </a:solidFill>
          </p:spPr>
          <p:txBody>
            <a:bodyPr/>
            <a:lstStyle/>
            <a:p>
              <a:endParaRPr lang="en-EG" sz="1688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" name="Moon 4">
              <a:extLst>
                <a:ext uri="{FF2B5EF4-FFF2-40B4-BE49-F238E27FC236}">
                  <a16:creationId xmlns:a16="http://schemas.microsoft.com/office/drawing/2014/main" id="{ABECB14D-3D1F-8099-B230-81418A39D712}"/>
                </a:ext>
              </a:extLst>
            </p:cNvPr>
            <p:cNvSpPr/>
            <p:nvPr/>
          </p:nvSpPr>
          <p:spPr>
            <a:xfrm rot="8261318">
              <a:off x="10369095" y="-1675594"/>
              <a:ext cx="2244114" cy="4629415"/>
            </a:xfrm>
            <a:prstGeom prst="moon">
              <a:avLst/>
            </a:prstGeom>
            <a:solidFill>
              <a:srgbClr val="082D4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E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pic>
        <p:nvPicPr>
          <p:cNvPr id="6" name="Image 5" descr="preencoded.png">
            <a:extLst>
              <a:ext uri="{FF2B5EF4-FFF2-40B4-BE49-F238E27FC236}">
                <a16:creationId xmlns:a16="http://schemas.microsoft.com/office/drawing/2014/main" id="{74C5D2C2-6ED9-E056-76C0-9EB6E98BA2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0000"/>
          </a:blip>
          <a:srcRect t="-103" b="-103"/>
          <a:stretch/>
        </p:blipFill>
        <p:spPr>
          <a:xfrm>
            <a:off x="0" y="4148633"/>
            <a:ext cx="12191695" cy="271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820421"/>
      </p:ext>
    </p:extLst>
  </p:cSld>
  <p:clrMapOvr>
    <a:masterClrMapping/>
  </p:clrMapOvr>
  <p:transition spd="med"/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BB82BD-D3F9-19F4-02AC-0FAA8CF3B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3B3E4-53B9-2EFD-F619-7C1980DC2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B9FE2-7934-CABF-585E-07BBCE832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8FF0D4-7EFF-6E4C-B5C7-F2726EEDB699}" type="datetimeFigureOut">
              <a:rPr lang="en-EG" smtClean="0"/>
              <a:t>12/05/2026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C435C-D70C-5933-F0F3-CA4A7DF13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F3D54-7BA3-B0EE-3B00-1C484FB91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67B300-37B2-C74E-B94F-AD5E8CF3F4F1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438333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7D39FCFE-0355-318F-A9CD-73EC1786D98E}"/>
              </a:ext>
            </a:extLst>
          </p:cNvPr>
          <p:cNvSpPr/>
          <p:nvPr/>
        </p:nvSpPr>
        <p:spPr>
          <a:xfrm>
            <a:off x="571500" y="2100791"/>
            <a:ext cx="11048695" cy="45719"/>
          </a:xfrm>
          <a:prstGeom prst="rect">
            <a:avLst/>
          </a:prstGeom>
          <a:solidFill>
            <a:srgbClr val="FFB814"/>
          </a:solidFill>
        </p:spPr>
        <p:txBody>
          <a:bodyPr/>
          <a:lstStyle/>
          <a:p>
            <a:endParaRPr lang="en-EG" sz="1688" b="1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3682C7F0-44A2-78A6-9A0A-0DE0DAF1C86C}"/>
              </a:ext>
            </a:extLst>
          </p:cNvPr>
          <p:cNvSpPr txBox="1"/>
          <p:nvPr/>
        </p:nvSpPr>
        <p:spPr>
          <a:xfrm>
            <a:off x="533552" y="319126"/>
            <a:ext cx="11239805" cy="584775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 sz="4400" b="1" cap="all" spc="360">
                <a:solidFill>
                  <a:srgbClr val="082D4A"/>
                </a:solidFill>
                <a:latin typeface="Nexa Bold"/>
                <a:ea typeface="Nexa Bold"/>
                <a:cs typeface="Nexa Bold"/>
              </a:defRPr>
            </a:lvl1pPr>
          </a:lstStyle>
          <a:p>
            <a:r>
              <a:rPr lang="en-US" sz="3200" dirty="0"/>
              <a:t>Operations Optimization at National Scale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A2FC3E11-07EA-6D68-0E8D-B8E118E46E50}"/>
              </a:ext>
            </a:extLst>
          </p:cNvPr>
          <p:cNvSpPr txBox="1"/>
          <p:nvPr/>
        </p:nvSpPr>
        <p:spPr>
          <a:xfrm>
            <a:off x="571500" y="1048711"/>
            <a:ext cx="111639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How WAVZ Transformed DEPI Operations</a:t>
            </a:r>
            <a:endParaRPr lang="en-US" sz="1500" dirty="0">
              <a:solidFill>
                <a:srgbClr val="082D4A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8ACEBA9-836E-8CF8-9DE7-176341F18D50}"/>
              </a:ext>
            </a:extLst>
          </p:cNvPr>
          <p:cNvSpPr/>
          <p:nvPr/>
        </p:nvSpPr>
        <p:spPr>
          <a:xfrm>
            <a:off x="3217063" y="1419324"/>
            <a:ext cx="5772708" cy="514807"/>
          </a:xfrm>
          <a:prstGeom prst="roundRect">
            <a:avLst>
              <a:gd name="adj" fmla="val 52628"/>
            </a:avLst>
          </a:prstGeom>
          <a:solidFill>
            <a:schemeClr val="tx2"/>
          </a:solidFill>
          <a:ln w="12700">
            <a:solidFill>
              <a:srgbClr val="173955"/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D7B70CB0-1F41-68DB-F0A1-6AA88434FCD0}"/>
              </a:ext>
            </a:extLst>
          </p:cNvPr>
          <p:cNvSpPr txBox="1"/>
          <p:nvPr/>
        </p:nvSpPr>
        <p:spPr>
          <a:xfrm>
            <a:off x="3939235" y="1419324"/>
            <a:ext cx="5172761" cy="514807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Managing 10,000+ applicants per intake with 92% automation</a:t>
            </a:r>
            <a:endParaRPr lang="en-US"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785FADE1-574E-0EEA-4411-4A1CE22B177B}"/>
              </a:ext>
            </a:extLst>
          </p:cNvPr>
          <p:cNvSpPr/>
          <p:nvPr/>
        </p:nvSpPr>
        <p:spPr>
          <a:xfrm>
            <a:off x="571500" y="2705710"/>
            <a:ext cx="5333695" cy="91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1DA64848-CC7A-4B2C-A311-4C4A61922E93}"/>
              </a:ext>
            </a:extLst>
          </p:cNvPr>
          <p:cNvSpPr txBox="1"/>
          <p:nvPr/>
        </p:nvSpPr>
        <p:spPr>
          <a:xfrm>
            <a:off x="571500" y="2340368"/>
            <a:ext cx="5448301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75" dirty="0">
                <a:solidFill>
                  <a:srgbClr val="1739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CHALLENGE</a:t>
            </a:r>
            <a:endParaRPr lang="en-US" sz="1800" dirty="0">
              <a:solidFill>
                <a:srgbClr val="17395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85A89211-9740-A0EA-D892-F4DC0493185F}"/>
              </a:ext>
            </a:extLst>
          </p:cNvPr>
          <p:cNvSpPr/>
          <p:nvPr/>
        </p:nvSpPr>
        <p:spPr>
          <a:xfrm>
            <a:off x="571500" y="2852499"/>
            <a:ext cx="5333695" cy="933602"/>
          </a:xfrm>
          <a:prstGeom prst="roundRect">
            <a:avLst>
              <a:gd name="adj" fmla="val 15991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9AE7738B-23FC-E47A-1DC7-F5EECB6BC854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rcRect/>
          <a:stretch/>
        </p:blipFill>
        <p:spPr>
          <a:xfrm>
            <a:off x="636005" y="3066468"/>
            <a:ext cx="306741" cy="306741"/>
          </a:xfrm>
          <a:prstGeom prst="rect">
            <a:avLst/>
          </a:prstGeom>
        </p:spPr>
      </p:pic>
      <p:sp>
        <p:nvSpPr>
          <p:cNvPr id="13" name="Text 11">
            <a:extLst>
              <a:ext uri="{FF2B5EF4-FFF2-40B4-BE49-F238E27FC236}">
                <a16:creationId xmlns:a16="http://schemas.microsoft.com/office/drawing/2014/main" id="{D507E95D-60CD-8784-99F5-A1C36D52A052}"/>
              </a:ext>
            </a:extLst>
          </p:cNvPr>
          <p:cNvSpPr txBox="1"/>
          <p:nvPr/>
        </p:nvSpPr>
        <p:spPr>
          <a:xfrm>
            <a:off x="1095451" y="2995145"/>
            <a:ext cx="4782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500" b="1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The Scale Paradox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30DEFC0-DCCF-0A4A-CE3B-97ADBE7B9CD4}"/>
              </a:ext>
            </a:extLst>
          </p:cNvPr>
          <p:cNvSpPr txBox="1"/>
          <p:nvPr/>
        </p:nvSpPr>
        <p:spPr>
          <a:xfrm>
            <a:off x="1095451" y="3262150"/>
            <a:ext cx="4743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500" b="1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1200" dirty="0"/>
              <a:t>10,000+ applicants across registration, testing, training, graduation; zero margin for error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9623600-197F-9E95-CA56-DB16DA2DC3C2}"/>
              </a:ext>
            </a:extLst>
          </p:cNvPr>
          <p:cNvSpPr/>
          <p:nvPr/>
        </p:nvSpPr>
        <p:spPr>
          <a:xfrm>
            <a:off x="571500" y="3803128"/>
            <a:ext cx="5333695" cy="743407"/>
          </a:xfrm>
          <a:prstGeom prst="roundRect">
            <a:avLst>
              <a:gd name="adj" fmla="val 25231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D848B873-8E44-B633-2156-FF7610ACEDFA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rcRect/>
          <a:stretch/>
        </p:blipFill>
        <p:spPr>
          <a:xfrm>
            <a:off x="635343" y="4018012"/>
            <a:ext cx="354952" cy="283961"/>
          </a:xfrm>
          <a:prstGeom prst="rect">
            <a:avLst/>
          </a:prstGeom>
        </p:spPr>
      </p:pic>
      <p:sp>
        <p:nvSpPr>
          <p:cNvPr id="18" name="Text 15">
            <a:extLst>
              <a:ext uri="{FF2B5EF4-FFF2-40B4-BE49-F238E27FC236}">
                <a16:creationId xmlns:a16="http://schemas.microsoft.com/office/drawing/2014/main" id="{BEFFA4EB-C119-F53D-0E85-D59BB9273E9F}"/>
              </a:ext>
            </a:extLst>
          </p:cNvPr>
          <p:cNvSpPr txBox="1"/>
          <p:nvPr/>
        </p:nvSpPr>
        <p:spPr>
          <a:xfrm>
            <a:off x="1143000" y="3946689"/>
            <a:ext cx="4582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500" b="1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Intelligence Gap</a:t>
            </a:r>
            <a:endParaRPr lang="en-US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AAA4940-F057-D9C9-ADDF-138F26DF1C8F}"/>
              </a:ext>
            </a:extLst>
          </p:cNvPr>
          <p:cNvSpPr txBox="1"/>
          <p:nvPr/>
        </p:nvSpPr>
        <p:spPr>
          <a:xfrm>
            <a:off x="1143000" y="4286349"/>
            <a:ext cx="5153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500" b="1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1200" dirty="0"/>
              <a:t>Fragmented silos; manual/obsolete reports leading to delayed decisions</a:t>
            </a: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37EFD9D8-9CFE-1646-B2C4-F11E7C6475F2}"/>
              </a:ext>
            </a:extLst>
          </p:cNvPr>
          <p:cNvSpPr/>
          <p:nvPr/>
        </p:nvSpPr>
        <p:spPr>
          <a:xfrm>
            <a:off x="571500" y="4742238"/>
            <a:ext cx="5333695" cy="933602"/>
          </a:xfrm>
          <a:prstGeom prst="roundRect">
            <a:avLst>
              <a:gd name="adj" fmla="val 15991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7BEB6883-ED06-395C-6E90-229E9E964E0E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rcRect/>
          <a:stretch/>
        </p:blipFill>
        <p:spPr>
          <a:xfrm>
            <a:off x="635343" y="4957122"/>
            <a:ext cx="354952" cy="283961"/>
          </a:xfrm>
          <a:prstGeom prst="rect">
            <a:avLst/>
          </a:prstGeom>
        </p:spPr>
      </p:pic>
      <p:sp>
        <p:nvSpPr>
          <p:cNvPr id="23" name="Text 19">
            <a:extLst>
              <a:ext uri="{FF2B5EF4-FFF2-40B4-BE49-F238E27FC236}">
                <a16:creationId xmlns:a16="http://schemas.microsoft.com/office/drawing/2014/main" id="{ECB56D07-3435-057B-D475-6A4651B212CD}"/>
              </a:ext>
            </a:extLst>
          </p:cNvPr>
          <p:cNvSpPr txBox="1"/>
          <p:nvPr/>
        </p:nvSpPr>
        <p:spPr>
          <a:xfrm>
            <a:off x="1143000" y="4885799"/>
            <a:ext cx="4734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Complexity</a:t>
            </a: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35C661A3-5ECB-F78D-70CF-DA68500378FB}"/>
              </a:ext>
            </a:extLst>
          </p:cNvPr>
          <p:cNvSpPr txBox="1"/>
          <p:nvPr/>
        </p:nvSpPr>
        <p:spPr>
          <a:xfrm>
            <a:off x="1143000" y="5151890"/>
            <a:ext cx="46963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200" b="1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Multi-stakeholder coordination; ensuring consistent quality &amp; governance compliance</a:t>
            </a:r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70674FBB-1510-C8CE-4BC6-C6FBDFD82332}"/>
              </a:ext>
            </a:extLst>
          </p:cNvPr>
          <p:cNvSpPr/>
          <p:nvPr/>
        </p:nvSpPr>
        <p:spPr>
          <a:xfrm>
            <a:off x="6286500" y="2705710"/>
            <a:ext cx="5333695" cy="91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80EC3D3B-3A22-4E9B-8B92-6FEC19E16E43}"/>
              </a:ext>
            </a:extLst>
          </p:cNvPr>
          <p:cNvSpPr txBox="1"/>
          <p:nvPr/>
        </p:nvSpPr>
        <p:spPr>
          <a:xfrm>
            <a:off x="6279184" y="2340368"/>
            <a:ext cx="5341925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75" dirty="0">
                <a:solidFill>
                  <a:srgbClr val="1739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SOLUTION</a:t>
            </a:r>
            <a:endParaRPr lang="en-US" sz="1800" dirty="0">
              <a:solidFill>
                <a:srgbClr val="17395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D37E1EBF-AD95-F047-BC7C-4A541BFBC19A}"/>
              </a:ext>
            </a:extLst>
          </p:cNvPr>
          <p:cNvSpPr/>
          <p:nvPr/>
        </p:nvSpPr>
        <p:spPr>
          <a:xfrm>
            <a:off x="6286500" y="2926069"/>
            <a:ext cx="2572207" cy="1686154"/>
          </a:xfrm>
          <a:prstGeom prst="roundRect">
            <a:avLst>
              <a:gd name="adj" fmla="val 4902"/>
            </a:avLst>
          </a:prstGeom>
          <a:noFill/>
          <a:ln/>
        </p:spPr>
        <p:txBody>
          <a:bodyPr wrap="square" lIns="0" tIns="0" rIns="0" bIns="0" rtlCol="0" anchor="ctr"/>
          <a:lstStyle/>
          <a:p>
            <a:endParaRPr lang="en-EG" sz="1500" b="1">
              <a:solidFill>
                <a:srgbClr val="082D4A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7B402DFE-C777-0992-B674-1117663EB4AF}"/>
              </a:ext>
            </a:extLst>
          </p:cNvPr>
          <p:cNvSpPr/>
          <p:nvPr/>
        </p:nvSpPr>
        <p:spPr>
          <a:xfrm>
            <a:off x="7381951" y="2973674"/>
            <a:ext cx="381305" cy="38130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9" name="Image 4" descr="preencoded.png">
            <a:extLst>
              <a:ext uri="{FF2B5EF4-FFF2-40B4-BE49-F238E27FC236}">
                <a16:creationId xmlns:a16="http://schemas.microsoft.com/office/drawing/2014/main" id="{AFCFC6AB-AF66-0D2E-BA51-5B84AC1A564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87107" y="3077915"/>
            <a:ext cx="171907" cy="171907"/>
          </a:xfrm>
          <a:prstGeom prst="rect">
            <a:avLst/>
          </a:prstGeom>
        </p:spPr>
      </p:pic>
      <p:sp>
        <p:nvSpPr>
          <p:cNvPr id="30" name="Text 25">
            <a:extLst>
              <a:ext uri="{FF2B5EF4-FFF2-40B4-BE49-F238E27FC236}">
                <a16:creationId xmlns:a16="http://schemas.microsoft.com/office/drawing/2014/main" id="{17B1B8D3-0E90-95B2-3730-E93DB6CF25A6}"/>
              </a:ext>
            </a:extLst>
          </p:cNvPr>
          <p:cNvSpPr txBox="1"/>
          <p:nvPr/>
        </p:nvSpPr>
        <p:spPr>
          <a:xfrm>
            <a:off x="6400800" y="3450076"/>
            <a:ext cx="2343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Executive</a:t>
            </a:r>
            <a:r>
              <a:rPr lang="en-US" sz="1200" b="1" dirty="0">
                <a:solidFill>
                  <a:srgbClr val="BFDBF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Intelligence</a:t>
            </a:r>
            <a:r>
              <a:rPr lang="en-US" sz="1200" b="1" dirty="0">
                <a:solidFill>
                  <a:srgbClr val="BFDBF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Dashboards</a:t>
            </a:r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A1108B68-0EB0-F678-BD73-6AD60C84F546}"/>
              </a:ext>
            </a:extLst>
          </p:cNvPr>
          <p:cNvSpPr txBox="1"/>
          <p:nvPr/>
        </p:nvSpPr>
        <p:spPr>
          <a:xfrm>
            <a:off x="6400800" y="3757974"/>
            <a:ext cx="23436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Real-time KPIs &amp; predictive decision-making based on unified data</a:t>
            </a:r>
          </a:p>
        </p:txBody>
      </p:sp>
      <p:sp>
        <p:nvSpPr>
          <p:cNvPr id="32" name="Shape 27">
            <a:extLst>
              <a:ext uri="{FF2B5EF4-FFF2-40B4-BE49-F238E27FC236}">
                <a16:creationId xmlns:a16="http://schemas.microsoft.com/office/drawing/2014/main" id="{F2589655-846D-33BD-1E90-58A42E341ED4}"/>
              </a:ext>
            </a:extLst>
          </p:cNvPr>
          <p:cNvSpPr/>
          <p:nvPr/>
        </p:nvSpPr>
        <p:spPr>
          <a:xfrm>
            <a:off x="9048902" y="2811769"/>
            <a:ext cx="2572207" cy="1286867"/>
          </a:xfrm>
          <a:prstGeom prst="roundRect">
            <a:avLst>
              <a:gd name="adj" fmla="val 4902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FA5EC81E-A012-C5A7-B094-8ECD1E3187AD}"/>
              </a:ext>
            </a:extLst>
          </p:cNvPr>
          <p:cNvSpPr/>
          <p:nvPr/>
        </p:nvSpPr>
        <p:spPr>
          <a:xfrm>
            <a:off x="10144354" y="2973674"/>
            <a:ext cx="381305" cy="38130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4" name="Image 5" descr="preencoded.png">
            <a:extLst>
              <a:ext uri="{FF2B5EF4-FFF2-40B4-BE49-F238E27FC236}">
                <a16:creationId xmlns:a16="http://schemas.microsoft.com/office/drawing/2014/main" id="{53C1CC72-5165-46B1-C279-E035FF7F998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064" r="-1064"/>
          <a:stretch/>
        </p:blipFill>
        <p:spPr>
          <a:xfrm>
            <a:off x="10224821" y="3077915"/>
            <a:ext cx="219456" cy="171907"/>
          </a:xfrm>
          <a:prstGeom prst="rect">
            <a:avLst/>
          </a:prstGeom>
        </p:spPr>
      </p:pic>
      <p:sp>
        <p:nvSpPr>
          <p:cNvPr id="35" name="Text 29">
            <a:extLst>
              <a:ext uri="{FF2B5EF4-FFF2-40B4-BE49-F238E27FC236}">
                <a16:creationId xmlns:a16="http://schemas.microsoft.com/office/drawing/2014/main" id="{4AA090CA-B3C1-CAF1-070D-92511F6A8747}"/>
              </a:ext>
            </a:extLst>
          </p:cNvPr>
          <p:cNvSpPr txBox="1"/>
          <p:nvPr/>
        </p:nvSpPr>
        <p:spPr>
          <a:xfrm>
            <a:off x="9111996" y="3450076"/>
            <a:ext cx="24524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Automated</a:t>
            </a:r>
            <a:r>
              <a:rPr lang="en-US" sz="1200" b="1" dirty="0">
                <a:solidFill>
                  <a:srgbClr val="BFDBF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Governance</a:t>
            </a:r>
            <a:r>
              <a:rPr lang="en-US" sz="1200" b="1" dirty="0">
                <a:solidFill>
                  <a:srgbClr val="BFDBF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&amp;</a:t>
            </a:r>
            <a:r>
              <a:rPr lang="en-US" sz="1200" b="1" dirty="0">
                <a:solidFill>
                  <a:srgbClr val="BFDBF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QA</a:t>
            </a:r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FF104D74-6B70-7ED1-8D1D-3E3D31496329}"/>
              </a:ext>
            </a:extLst>
          </p:cNvPr>
          <p:cNvSpPr txBox="1"/>
          <p:nvPr/>
        </p:nvSpPr>
        <p:spPr>
          <a:xfrm>
            <a:off x="9163202" y="3754571"/>
            <a:ext cx="23436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Identity verification &amp; compliance auditing across workflows</a:t>
            </a:r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DC0873BC-D7E4-6550-AC65-91BB0D4D9A63}"/>
              </a:ext>
            </a:extLst>
          </p:cNvPr>
          <p:cNvSpPr/>
          <p:nvPr/>
        </p:nvSpPr>
        <p:spPr>
          <a:xfrm>
            <a:off x="6286500" y="4259359"/>
            <a:ext cx="2572207" cy="1315412"/>
          </a:xfrm>
          <a:prstGeom prst="roundRect">
            <a:avLst>
              <a:gd name="adj" fmla="val 6561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A913F063-56C2-5455-35AC-8EF585BFA1FA}"/>
              </a:ext>
            </a:extLst>
          </p:cNvPr>
          <p:cNvSpPr/>
          <p:nvPr/>
        </p:nvSpPr>
        <p:spPr>
          <a:xfrm>
            <a:off x="7381951" y="4419107"/>
            <a:ext cx="381305" cy="38130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9" name="Image 6" descr="preencoded.png">
            <a:extLst>
              <a:ext uri="{FF2B5EF4-FFF2-40B4-BE49-F238E27FC236}">
                <a16:creationId xmlns:a16="http://schemas.microsoft.com/office/drawing/2014/main" id="{8554E582-8E54-0915-603A-F19560EC670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87107" y="4523349"/>
            <a:ext cx="171907" cy="171907"/>
          </a:xfrm>
          <a:prstGeom prst="rect">
            <a:avLst/>
          </a:prstGeom>
        </p:spPr>
      </p:pic>
      <p:sp>
        <p:nvSpPr>
          <p:cNvPr id="40" name="Text 33">
            <a:extLst>
              <a:ext uri="{FF2B5EF4-FFF2-40B4-BE49-F238E27FC236}">
                <a16:creationId xmlns:a16="http://schemas.microsoft.com/office/drawing/2014/main" id="{CBE29EEF-7A78-5666-0AA4-ADC0BB3B1002}"/>
              </a:ext>
            </a:extLst>
          </p:cNvPr>
          <p:cNvSpPr txBox="1"/>
          <p:nvPr/>
        </p:nvSpPr>
        <p:spPr>
          <a:xfrm>
            <a:off x="6588252" y="4884995"/>
            <a:ext cx="1972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High-Velocity</a:t>
            </a:r>
            <a:r>
              <a:rPr lang="en-US" sz="1200" b="1" dirty="0">
                <a:solidFill>
                  <a:srgbClr val="BFDBF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Support</a:t>
            </a:r>
          </a:p>
        </p:txBody>
      </p:sp>
      <p:sp>
        <p:nvSpPr>
          <p:cNvPr id="41" name="Text 34">
            <a:extLst>
              <a:ext uri="{FF2B5EF4-FFF2-40B4-BE49-F238E27FC236}">
                <a16:creationId xmlns:a16="http://schemas.microsoft.com/office/drawing/2014/main" id="{41770972-455B-2D92-518C-3CE2CE16FDF1}"/>
              </a:ext>
            </a:extLst>
          </p:cNvPr>
          <p:cNvSpPr txBox="1"/>
          <p:nvPr/>
        </p:nvSpPr>
        <p:spPr>
          <a:xfrm>
            <a:off x="6400800" y="5189490"/>
            <a:ext cx="23436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84-hour/week omni-channel support engine for rapid resolution</a:t>
            </a:r>
          </a:p>
        </p:txBody>
      </p:sp>
      <p:sp>
        <p:nvSpPr>
          <p:cNvPr id="42" name="Shape 35">
            <a:extLst>
              <a:ext uri="{FF2B5EF4-FFF2-40B4-BE49-F238E27FC236}">
                <a16:creationId xmlns:a16="http://schemas.microsoft.com/office/drawing/2014/main" id="{45181FF4-F01A-09CF-6DC3-0FE475CDF24C}"/>
              </a:ext>
            </a:extLst>
          </p:cNvPr>
          <p:cNvSpPr/>
          <p:nvPr/>
        </p:nvSpPr>
        <p:spPr>
          <a:xfrm>
            <a:off x="9058572" y="4259359"/>
            <a:ext cx="2572207" cy="1302292"/>
          </a:xfrm>
          <a:prstGeom prst="roundRect">
            <a:avLst>
              <a:gd name="adj" fmla="val 6561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3" name="Shape 36">
            <a:extLst>
              <a:ext uri="{FF2B5EF4-FFF2-40B4-BE49-F238E27FC236}">
                <a16:creationId xmlns:a16="http://schemas.microsoft.com/office/drawing/2014/main" id="{BA99D189-CBB0-E71B-2218-ACF55D0C29B8}"/>
              </a:ext>
            </a:extLst>
          </p:cNvPr>
          <p:cNvSpPr/>
          <p:nvPr/>
        </p:nvSpPr>
        <p:spPr>
          <a:xfrm>
            <a:off x="10144354" y="4419107"/>
            <a:ext cx="381305" cy="38130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4" name="Image 7" descr="preencoded.png">
            <a:extLst>
              <a:ext uri="{FF2B5EF4-FFF2-40B4-BE49-F238E27FC236}">
                <a16:creationId xmlns:a16="http://schemas.microsoft.com/office/drawing/2014/main" id="{55A93311-1B23-CB96-073D-75E0CE1756B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760" r="-760"/>
          <a:stretch/>
        </p:blipFill>
        <p:spPr>
          <a:xfrm>
            <a:off x="10258654" y="4523349"/>
            <a:ext cx="152705" cy="171907"/>
          </a:xfrm>
          <a:prstGeom prst="rect">
            <a:avLst/>
          </a:prstGeom>
        </p:spPr>
      </p:pic>
      <p:sp>
        <p:nvSpPr>
          <p:cNvPr id="45" name="Text 37">
            <a:extLst>
              <a:ext uri="{FF2B5EF4-FFF2-40B4-BE49-F238E27FC236}">
                <a16:creationId xmlns:a16="http://schemas.microsoft.com/office/drawing/2014/main" id="{D461B04E-48E5-1F40-2673-0DE3F89D79B1}"/>
              </a:ext>
            </a:extLst>
          </p:cNvPr>
          <p:cNvSpPr txBox="1"/>
          <p:nvPr/>
        </p:nvSpPr>
        <p:spPr>
          <a:xfrm>
            <a:off x="9555480" y="4884995"/>
            <a:ext cx="1564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Unified</a:t>
            </a:r>
            <a:r>
              <a:rPr lang="en-US" sz="1200" b="1" dirty="0">
                <a:solidFill>
                  <a:srgbClr val="BFDBF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</a:t>
            </a:r>
            <a:r>
              <a:rPr lang="en-US" sz="1200" b="1" dirty="0">
                <a:solidFill>
                  <a:srgbClr val="BFDBF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Hub</a:t>
            </a:r>
          </a:p>
        </p:txBody>
      </p:sp>
      <p:sp>
        <p:nvSpPr>
          <p:cNvPr id="46" name="Text 38">
            <a:extLst>
              <a:ext uri="{FF2B5EF4-FFF2-40B4-BE49-F238E27FC236}">
                <a16:creationId xmlns:a16="http://schemas.microsoft.com/office/drawing/2014/main" id="{D6EE0741-3E53-0598-5431-A0BD7F08C79D}"/>
              </a:ext>
            </a:extLst>
          </p:cNvPr>
          <p:cNvSpPr txBox="1"/>
          <p:nvPr/>
        </p:nvSpPr>
        <p:spPr>
          <a:xfrm>
            <a:off x="9163202" y="5189490"/>
            <a:ext cx="23436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Single source of truth integrating all systems for complete visibility</a:t>
            </a:r>
          </a:p>
        </p:txBody>
      </p:sp>
      <p:sp>
        <p:nvSpPr>
          <p:cNvPr id="56" name="Shape 27">
            <a:extLst>
              <a:ext uri="{FF2B5EF4-FFF2-40B4-BE49-F238E27FC236}">
                <a16:creationId xmlns:a16="http://schemas.microsoft.com/office/drawing/2014/main" id="{54F04E0E-DA6A-5928-B23C-4EE4809DE0B6}"/>
              </a:ext>
            </a:extLst>
          </p:cNvPr>
          <p:cNvSpPr/>
          <p:nvPr/>
        </p:nvSpPr>
        <p:spPr>
          <a:xfrm>
            <a:off x="6279185" y="2820913"/>
            <a:ext cx="2572207" cy="1277723"/>
          </a:xfrm>
          <a:prstGeom prst="roundRect">
            <a:avLst>
              <a:gd name="adj" fmla="val 4902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EG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1" name="Shape 4">
            <a:extLst>
              <a:ext uri="{FF2B5EF4-FFF2-40B4-BE49-F238E27FC236}">
                <a16:creationId xmlns:a16="http://schemas.microsoft.com/office/drawing/2014/main" id="{34660282-5968-846F-B33D-5D75A5636A3E}"/>
              </a:ext>
            </a:extLst>
          </p:cNvPr>
          <p:cNvSpPr/>
          <p:nvPr/>
        </p:nvSpPr>
        <p:spPr>
          <a:xfrm>
            <a:off x="3217062" y="1000550"/>
            <a:ext cx="5772709" cy="45719"/>
          </a:xfrm>
          <a:prstGeom prst="rect">
            <a:avLst/>
          </a:prstGeom>
          <a:solidFill>
            <a:srgbClr val="FFB814"/>
          </a:solidFill>
        </p:spPr>
        <p:txBody>
          <a:bodyPr/>
          <a:lstStyle/>
          <a:p>
            <a:endParaRPr lang="en-EG" sz="1688" b="1"/>
          </a:p>
        </p:txBody>
      </p:sp>
      <p:sp>
        <p:nvSpPr>
          <p:cNvPr id="89" name="Graphic 43">
            <a:extLst>
              <a:ext uri="{FF2B5EF4-FFF2-40B4-BE49-F238E27FC236}">
                <a16:creationId xmlns:a16="http://schemas.microsoft.com/office/drawing/2014/main" id="{2A72ED67-57C0-B8F8-9198-1C8F8F46AD82}"/>
              </a:ext>
            </a:extLst>
          </p:cNvPr>
          <p:cNvSpPr/>
          <p:nvPr/>
        </p:nvSpPr>
        <p:spPr>
          <a:xfrm>
            <a:off x="3434029" y="5665893"/>
            <a:ext cx="2637769" cy="923925"/>
          </a:xfrm>
          <a:custGeom>
            <a:avLst/>
            <a:gdLst/>
            <a:ahLst/>
            <a:cxnLst/>
            <a:rect l="l" t="t" r="r" b="b"/>
            <a:pathLst>
              <a:path w="3209925" h="923925">
                <a:moveTo>
                  <a:pt x="3209924" y="923924"/>
                </a:moveTo>
                <a:lnTo>
                  <a:pt x="0" y="923924"/>
                </a:lnTo>
                <a:lnTo>
                  <a:pt x="0" y="0"/>
                </a:lnTo>
                <a:lnTo>
                  <a:pt x="3209924" y="0"/>
                </a:lnTo>
                <a:lnTo>
                  <a:pt x="3209924" y="923924"/>
                </a:lnTo>
                <a:close/>
              </a:path>
            </a:pathLst>
          </a:custGeom>
          <a:solidFill>
            <a:schemeClr val="tx2"/>
          </a:solidFill>
          <a:ln>
            <a:noFill/>
            <a:bevel/>
          </a:ln>
          <a:effectLst>
            <a:softEdge rad="31750"/>
          </a:effectLst>
          <a:scene3d>
            <a:camera prst="orthographicFront"/>
            <a:lightRig rig="threePt" dir="t"/>
          </a:scene3d>
          <a:sp3d extrusionH="76200">
            <a:bevelT/>
            <a:extrusionClr>
              <a:srgbClr val="082D4A"/>
            </a:extrusionClr>
          </a:sp3d>
        </p:spPr>
        <p:txBody>
          <a:bodyPr wrap="square" lIns="0" tIns="0" rIns="0" bIns="0" rtlCol="0">
            <a:prstTxWarp prst="textNoShape">
              <a:avLst/>
            </a:prstTxWarp>
            <a:noAutofit/>
          </a:bodyPr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40% Cost Reduction</a:t>
            </a:r>
          </a:p>
          <a:p>
            <a:pPr marL="327025" marR="267970" algn="ctr">
              <a:lnSpc>
                <a:spcPct val="110000"/>
              </a:lnSpc>
              <a:spcBef>
                <a:spcPts val="620"/>
              </a:spcBef>
            </a:pPr>
            <a:r>
              <a:rPr lang="en-US" sz="11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Eliminated redundant processes, reduced cost-per-trainee</a:t>
            </a:r>
            <a:endParaRPr lang="en-EG" sz="11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3" name="Graphic 43">
            <a:extLst>
              <a:ext uri="{FF2B5EF4-FFF2-40B4-BE49-F238E27FC236}">
                <a16:creationId xmlns:a16="http://schemas.microsoft.com/office/drawing/2014/main" id="{4F5C77D7-4391-6D7F-4547-97DD3D4B7C6A}"/>
              </a:ext>
            </a:extLst>
          </p:cNvPr>
          <p:cNvSpPr/>
          <p:nvPr/>
        </p:nvSpPr>
        <p:spPr>
          <a:xfrm>
            <a:off x="6286500" y="5670131"/>
            <a:ext cx="2564892" cy="923925"/>
          </a:xfrm>
          <a:custGeom>
            <a:avLst/>
            <a:gdLst/>
            <a:ahLst/>
            <a:cxnLst/>
            <a:rect l="l" t="t" r="r" b="b"/>
            <a:pathLst>
              <a:path w="3209925" h="923925">
                <a:moveTo>
                  <a:pt x="3209924" y="923924"/>
                </a:moveTo>
                <a:lnTo>
                  <a:pt x="0" y="923924"/>
                </a:lnTo>
                <a:lnTo>
                  <a:pt x="0" y="0"/>
                </a:lnTo>
                <a:lnTo>
                  <a:pt x="3209924" y="0"/>
                </a:lnTo>
                <a:lnTo>
                  <a:pt x="3209924" y="923924"/>
                </a:lnTo>
                <a:close/>
              </a:path>
            </a:pathLst>
          </a:custGeom>
          <a:solidFill>
            <a:schemeClr val="tx2"/>
          </a:solidFill>
          <a:ln>
            <a:noFill/>
            <a:bevel/>
          </a:ln>
          <a:effectLst>
            <a:softEdge rad="31750"/>
          </a:effectLst>
          <a:scene3d>
            <a:camera prst="orthographicFront"/>
            <a:lightRig rig="threePt" dir="t"/>
          </a:scene3d>
          <a:sp3d extrusionH="76200">
            <a:bevelT/>
            <a:extrusionClr>
              <a:srgbClr val="082D4A"/>
            </a:extrusionClr>
          </a:sp3d>
        </p:spPr>
        <p:txBody>
          <a:bodyPr wrap="square" lIns="0" tIns="0" rIns="0" bIns="0" rtlCol="0">
            <a:prstTxWarp prst="textNoShape">
              <a:avLst/>
            </a:prstTxWarp>
            <a:noAutofit/>
          </a:bodyPr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95% Stakeholder Satisfaction</a:t>
            </a:r>
          </a:p>
          <a:p>
            <a:pPr marL="327025" marR="267970" algn="ctr">
              <a:lnSpc>
                <a:spcPct val="110000"/>
              </a:lnSpc>
              <a:spcBef>
                <a:spcPts val="620"/>
              </a:spcBef>
            </a:pPr>
            <a:r>
              <a:rPr lang="en-US" sz="11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Systematic removal of manual friction points</a:t>
            </a:r>
            <a:endParaRPr lang="en-EG" sz="11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4" name="Graphic 43">
            <a:extLst>
              <a:ext uri="{FF2B5EF4-FFF2-40B4-BE49-F238E27FC236}">
                <a16:creationId xmlns:a16="http://schemas.microsoft.com/office/drawing/2014/main" id="{BE623D45-6617-10F6-C485-3896124B246C}"/>
              </a:ext>
            </a:extLst>
          </p:cNvPr>
          <p:cNvSpPr/>
          <p:nvPr/>
        </p:nvSpPr>
        <p:spPr>
          <a:xfrm>
            <a:off x="9066094" y="5686741"/>
            <a:ext cx="2572207" cy="906976"/>
          </a:xfrm>
          <a:custGeom>
            <a:avLst/>
            <a:gdLst/>
            <a:ahLst/>
            <a:cxnLst/>
            <a:rect l="l" t="t" r="r" b="b"/>
            <a:pathLst>
              <a:path w="3209925" h="923925">
                <a:moveTo>
                  <a:pt x="3209924" y="923924"/>
                </a:moveTo>
                <a:lnTo>
                  <a:pt x="0" y="923924"/>
                </a:lnTo>
                <a:lnTo>
                  <a:pt x="0" y="0"/>
                </a:lnTo>
                <a:lnTo>
                  <a:pt x="3209924" y="0"/>
                </a:lnTo>
                <a:lnTo>
                  <a:pt x="3209924" y="923924"/>
                </a:lnTo>
                <a:close/>
              </a:path>
            </a:pathLst>
          </a:custGeom>
          <a:solidFill>
            <a:schemeClr val="tx2"/>
          </a:solidFill>
          <a:ln>
            <a:noFill/>
            <a:bevel/>
          </a:ln>
          <a:effectLst>
            <a:softEdge rad="31750"/>
          </a:effectLst>
          <a:scene3d>
            <a:camera prst="orthographicFront"/>
            <a:lightRig rig="threePt" dir="t"/>
          </a:scene3d>
          <a:sp3d extrusionH="76200">
            <a:bevelT/>
            <a:extrusionClr>
              <a:srgbClr val="082D4A"/>
            </a:extrusionClr>
          </a:sp3d>
        </p:spPr>
        <p:txBody>
          <a:bodyPr wrap="square" lIns="0" tIns="0" rIns="0" bIns="0" rtlCol="0">
            <a:prstTxWarp prst="textNoShape">
              <a:avLst/>
            </a:prstTxWarp>
            <a:noAutofit/>
          </a:bodyPr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100% Compliance</a:t>
            </a:r>
          </a:p>
          <a:p>
            <a:pPr marL="327025" marR="267970" algn="ctr">
              <a:lnSpc>
                <a:spcPct val="110000"/>
              </a:lnSpc>
              <a:spcBef>
                <a:spcPts val="620"/>
              </a:spcBef>
            </a:pPr>
            <a:r>
              <a:rPr lang="en-US" sz="11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Verified, internationally recognized skills</a:t>
            </a:r>
            <a:endParaRPr lang="en-EG" sz="11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95" name="Group 57">
            <a:extLst>
              <a:ext uri="{FF2B5EF4-FFF2-40B4-BE49-F238E27FC236}">
                <a16:creationId xmlns:a16="http://schemas.microsoft.com/office/drawing/2014/main" id="{BC53AEFC-F0D1-4677-8FB7-FC12DC2A22DC}"/>
              </a:ext>
            </a:extLst>
          </p:cNvPr>
          <p:cNvGrpSpPr/>
          <p:nvPr/>
        </p:nvGrpSpPr>
        <p:grpSpPr>
          <a:xfrm>
            <a:off x="3496749" y="5693768"/>
            <a:ext cx="327271" cy="468909"/>
            <a:chOff x="-11" y="0"/>
            <a:chExt cx="464345" cy="464342"/>
          </a:xfrm>
        </p:grpSpPr>
        <p:sp>
          <p:nvSpPr>
            <p:cNvPr id="96" name="AutoShape 52">
              <a:extLst>
                <a:ext uri="{FF2B5EF4-FFF2-40B4-BE49-F238E27FC236}">
                  <a16:creationId xmlns:a16="http://schemas.microsoft.com/office/drawing/2014/main" id="{5D02CB92-4B34-FF80-7A36-AD0FE0446DC7}"/>
                </a:ext>
              </a:extLst>
            </p:cNvPr>
            <p:cNvSpPr/>
            <p:nvPr/>
          </p:nvSpPr>
          <p:spPr>
            <a:xfrm>
              <a:off x="-12" y="0"/>
              <a:ext cx="464346" cy="4643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7" h="21454" extrusionOk="0">
                  <a:moveTo>
                    <a:pt x="8035" y="20113"/>
                  </a:moveTo>
                  <a:cubicBezTo>
                    <a:pt x="5817" y="17893"/>
                    <a:pt x="3557" y="15629"/>
                    <a:pt x="1339" y="13409"/>
                  </a:cubicBezTo>
                  <a:cubicBezTo>
                    <a:pt x="3242" y="7240"/>
                    <a:pt x="11490" y="7509"/>
                    <a:pt x="13393" y="1341"/>
                  </a:cubicBezTo>
                  <a:cubicBezTo>
                    <a:pt x="15611" y="3560"/>
                    <a:pt x="17871" y="5825"/>
                    <a:pt x="20089" y="8045"/>
                  </a:cubicBezTo>
                  <a:cubicBezTo>
                    <a:pt x="18186" y="14213"/>
                    <a:pt x="9938" y="13945"/>
                    <a:pt x="8035" y="20113"/>
                  </a:cubicBezTo>
                  <a:moveTo>
                    <a:pt x="21036" y="7097"/>
                  </a:moveTo>
                  <a:lnTo>
                    <a:pt x="14340" y="393"/>
                  </a:lnTo>
                  <a:cubicBezTo>
                    <a:pt x="14008" y="60"/>
                    <a:pt x="13527" y="-73"/>
                    <a:pt x="13071" y="39"/>
                  </a:cubicBezTo>
                  <a:cubicBezTo>
                    <a:pt x="12830" y="98"/>
                    <a:pt x="12616" y="222"/>
                    <a:pt x="12446" y="393"/>
                  </a:cubicBezTo>
                  <a:cubicBezTo>
                    <a:pt x="12294" y="545"/>
                    <a:pt x="12179" y="733"/>
                    <a:pt x="12114" y="944"/>
                  </a:cubicBezTo>
                  <a:cubicBezTo>
                    <a:pt x="11810" y="1929"/>
                    <a:pt x="11285" y="2785"/>
                    <a:pt x="10508" y="3562"/>
                  </a:cubicBezTo>
                  <a:cubicBezTo>
                    <a:pt x="9472" y="4598"/>
                    <a:pt x="8122" y="5384"/>
                    <a:pt x="6694" y="6214"/>
                  </a:cubicBezTo>
                  <a:cubicBezTo>
                    <a:pt x="5178" y="7094"/>
                    <a:pt x="3612" y="8006"/>
                    <a:pt x="2329" y="9290"/>
                  </a:cubicBezTo>
                  <a:cubicBezTo>
                    <a:pt x="1238" y="10383"/>
                    <a:pt x="494" y="11601"/>
                    <a:pt x="60" y="13012"/>
                  </a:cubicBezTo>
                  <a:cubicBezTo>
                    <a:pt x="-86" y="13489"/>
                    <a:pt x="41" y="14005"/>
                    <a:pt x="392" y="14357"/>
                  </a:cubicBezTo>
                  <a:lnTo>
                    <a:pt x="7088" y="21061"/>
                  </a:lnTo>
                  <a:cubicBezTo>
                    <a:pt x="7420" y="21394"/>
                    <a:pt x="7901" y="21527"/>
                    <a:pt x="8357" y="21415"/>
                  </a:cubicBezTo>
                  <a:cubicBezTo>
                    <a:pt x="8598" y="21355"/>
                    <a:pt x="8812" y="21232"/>
                    <a:pt x="8982" y="21061"/>
                  </a:cubicBezTo>
                  <a:cubicBezTo>
                    <a:pt x="9134" y="20909"/>
                    <a:pt x="9249" y="20721"/>
                    <a:pt x="9315" y="20509"/>
                  </a:cubicBezTo>
                  <a:cubicBezTo>
                    <a:pt x="9618" y="19524"/>
                    <a:pt x="10143" y="18668"/>
                    <a:pt x="10920" y="17891"/>
                  </a:cubicBezTo>
                  <a:cubicBezTo>
                    <a:pt x="11956" y="16854"/>
                    <a:pt x="13306" y="16070"/>
                    <a:pt x="14735" y="15240"/>
                  </a:cubicBezTo>
                  <a:cubicBezTo>
                    <a:pt x="16250" y="14358"/>
                    <a:pt x="17816" y="13447"/>
                    <a:pt x="19099" y="12163"/>
                  </a:cubicBezTo>
                  <a:cubicBezTo>
                    <a:pt x="20190" y="11071"/>
                    <a:pt x="20934" y="9852"/>
                    <a:pt x="21368" y="8440"/>
                  </a:cubicBezTo>
                  <a:cubicBezTo>
                    <a:pt x="21514" y="7965"/>
                    <a:pt x="21387" y="7448"/>
                    <a:pt x="21036" y="7097"/>
                  </a:cubicBezTo>
                </a:path>
              </a:pathLst>
            </a:custGeom>
            <a:solidFill>
              <a:srgbClr val="53585F"/>
            </a:solidFill>
            <a:ln w="12700" cap="flat">
              <a:solidFill>
                <a:schemeClr val="bg1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457062"/>
              <a:endPara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cs typeface="Gill Sans"/>
              </a:endParaRPr>
            </a:p>
          </p:txBody>
        </p:sp>
        <p:sp>
          <p:nvSpPr>
            <p:cNvPr id="97" name="AutoShape 53">
              <a:extLst>
                <a:ext uri="{FF2B5EF4-FFF2-40B4-BE49-F238E27FC236}">
                  <a16:creationId xmlns:a16="http://schemas.microsoft.com/office/drawing/2014/main" id="{648B1A83-8D8C-8E6C-4C25-B24E2E49CB96}"/>
                </a:ext>
              </a:extLst>
            </p:cNvPr>
            <p:cNvSpPr/>
            <p:nvPr/>
          </p:nvSpPr>
          <p:spPr>
            <a:xfrm>
              <a:off x="174624" y="159541"/>
              <a:ext cx="125410" cy="1301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4" h="21516" extrusionOk="0">
                  <a:moveTo>
                    <a:pt x="17512" y="14987"/>
                  </a:moveTo>
                  <a:cubicBezTo>
                    <a:pt x="17288" y="15384"/>
                    <a:pt x="17033" y="15740"/>
                    <a:pt x="16732" y="16049"/>
                  </a:cubicBezTo>
                  <a:cubicBezTo>
                    <a:pt x="15341" y="14692"/>
                    <a:pt x="13948" y="13205"/>
                    <a:pt x="12560" y="11675"/>
                  </a:cubicBezTo>
                  <a:cubicBezTo>
                    <a:pt x="12913" y="11521"/>
                    <a:pt x="13288" y="11362"/>
                    <a:pt x="13690" y="11198"/>
                  </a:cubicBezTo>
                  <a:cubicBezTo>
                    <a:pt x="14093" y="11034"/>
                    <a:pt x="14495" y="10927"/>
                    <a:pt x="14896" y="10861"/>
                  </a:cubicBezTo>
                  <a:cubicBezTo>
                    <a:pt x="15309" y="10801"/>
                    <a:pt x="15716" y="10819"/>
                    <a:pt x="16123" y="10913"/>
                  </a:cubicBezTo>
                  <a:cubicBezTo>
                    <a:pt x="16528" y="11011"/>
                    <a:pt x="16910" y="11222"/>
                    <a:pt x="17263" y="11554"/>
                  </a:cubicBezTo>
                  <a:cubicBezTo>
                    <a:pt x="17613" y="11890"/>
                    <a:pt x="17836" y="12244"/>
                    <a:pt x="17924" y="12620"/>
                  </a:cubicBezTo>
                  <a:cubicBezTo>
                    <a:pt x="18021" y="13004"/>
                    <a:pt x="18026" y="13392"/>
                    <a:pt x="17959" y="13789"/>
                  </a:cubicBezTo>
                  <a:cubicBezTo>
                    <a:pt x="17884" y="14187"/>
                    <a:pt x="17739" y="14585"/>
                    <a:pt x="17512" y="14987"/>
                  </a:cubicBezTo>
                  <a:moveTo>
                    <a:pt x="5799" y="10193"/>
                  </a:moveTo>
                  <a:cubicBezTo>
                    <a:pt x="5096" y="10221"/>
                    <a:pt x="4482" y="9996"/>
                    <a:pt x="3946" y="9496"/>
                  </a:cubicBezTo>
                  <a:cubicBezTo>
                    <a:pt x="3717" y="9285"/>
                    <a:pt x="3558" y="9028"/>
                    <a:pt x="3461" y="8724"/>
                  </a:cubicBezTo>
                  <a:cubicBezTo>
                    <a:pt x="3359" y="8420"/>
                    <a:pt x="3326" y="8088"/>
                    <a:pt x="3366" y="7723"/>
                  </a:cubicBezTo>
                  <a:cubicBezTo>
                    <a:pt x="3397" y="7363"/>
                    <a:pt x="3509" y="6989"/>
                    <a:pt x="3703" y="6610"/>
                  </a:cubicBezTo>
                  <a:cubicBezTo>
                    <a:pt x="3889" y="6231"/>
                    <a:pt x="4160" y="5852"/>
                    <a:pt x="4510" y="5487"/>
                  </a:cubicBezTo>
                  <a:cubicBezTo>
                    <a:pt x="5768" y="6694"/>
                    <a:pt x="7022" y="8018"/>
                    <a:pt x="8282" y="9388"/>
                  </a:cubicBezTo>
                  <a:cubicBezTo>
                    <a:pt x="7330" y="9893"/>
                    <a:pt x="6501" y="10164"/>
                    <a:pt x="5799" y="10193"/>
                  </a:cubicBezTo>
                  <a:moveTo>
                    <a:pt x="19679" y="8570"/>
                  </a:moveTo>
                  <a:cubicBezTo>
                    <a:pt x="18869" y="7915"/>
                    <a:pt x="18056" y="7470"/>
                    <a:pt x="17236" y="7250"/>
                  </a:cubicBezTo>
                  <a:cubicBezTo>
                    <a:pt x="16422" y="7031"/>
                    <a:pt x="15604" y="6942"/>
                    <a:pt x="14780" y="6998"/>
                  </a:cubicBezTo>
                  <a:cubicBezTo>
                    <a:pt x="13965" y="7059"/>
                    <a:pt x="13131" y="7236"/>
                    <a:pt x="12297" y="7545"/>
                  </a:cubicBezTo>
                  <a:cubicBezTo>
                    <a:pt x="11463" y="7859"/>
                    <a:pt x="10625" y="8200"/>
                    <a:pt x="9782" y="8593"/>
                  </a:cubicBezTo>
                  <a:cubicBezTo>
                    <a:pt x="8448" y="7115"/>
                    <a:pt x="7114" y="5658"/>
                    <a:pt x="5778" y="4299"/>
                  </a:cubicBezTo>
                  <a:cubicBezTo>
                    <a:pt x="6382" y="3775"/>
                    <a:pt x="6963" y="3509"/>
                    <a:pt x="7526" y="3490"/>
                  </a:cubicBezTo>
                  <a:cubicBezTo>
                    <a:pt x="8088" y="3467"/>
                    <a:pt x="8631" y="3523"/>
                    <a:pt x="9145" y="3649"/>
                  </a:cubicBezTo>
                  <a:cubicBezTo>
                    <a:pt x="9669" y="3775"/>
                    <a:pt x="10149" y="3883"/>
                    <a:pt x="10590" y="3967"/>
                  </a:cubicBezTo>
                  <a:cubicBezTo>
                    <a:pt x="11039" y="4051"/>
                    <a:pt x="11425" y="3958"/>
                    <a:pt x="11766" y="3682"/>
                  </a:cubicBezTo>
                  <a:cubicBezTo>
                    <a:pt x="12124" y="3382"/>
                    <a:pt x="12322" y="2994"/>
                    <a:pt x="12352" y="2526"/>
                  </a:cubicBezTo>
                  <a:cubicBezTo>
                    <a:pt x="12377" y="2054"/>
                    <a:pt x="12190" y="1596"/>
                    <a:pt x="11783" y="1147"/>
                  </a:cubicBezTo>
                  <a:cubicBezTo>
                    <a:pt x="11259" y="569"/>
                    <a:pt x="10630" y="216"/>
                    <a:pt x="9872" y="85"/>
                  </a:cubicBezTo>
                  <a:cubicBezTo>
                    <a:pt x="9126" y="-41"/>
                    <a:pt x="8358" y="-30"/>
                    <a:pt x="7564" y="136"/>
                  </a:cubicBezTo>
                  <a:cubicBezTo>
                    <a:pt x="6780" y="309"/>
                    <a:pt x="6032" y="595"/>
                    <a:pt x="5324" y="997"/>
                  </a:cubicBezTo>
                  <a:cubicBezTo>
                    <a:pt x="4617" y="1399"/>
                    <a:pt x="4048" y="1811"/>
                    <a:pt x="3626" y="2213"/>
                  </a:cubicBezTo>
                  <a:cubicBezTo>
                    <a:pt x="3464" y="2066"/>
                    <a:pt x="3302" y="1918"/>
                    <a:pt x="3141" y="1773"/>
                  </a:cubicBezTo>
                  <a:cubicBezTo>
                    <a:pt x="2963" y="1614"/>
                    <a:pt x="2739" y="1530"/>
                    <a:pt x="2471" y="1535"/>
                  </a:cubicBezTo>
                  <a:cubicBezTo>
                    <a:pt x="2200" y="1535"/>
                    <a:pt x="1977" y="1647"/>
                    <a:pt x="1793" y="1853"/>
                  </a:cubicBezTo>
                  <a:cubicBezTo>
                    <a:pt x="1615" y="2054"/>
                    <a:pt x="1530" y="2288"/>
                    <a:pt x="1565" y="2536"/>
                  </a:cubicBezTo>
                  <a:cubicBezTo>
                    <a:pt x="1589" y="2793"/>
                    <a:pt x="1696" y="2989"/>
                    <a:pt x="1880" y="3139"/>
                  </a:cubicBezTo>
                  <a:cubicBezTo>
                    <a:pt x="2044" y="3270"/>
                    <a:pt x="2203" y="3401"/>
                    <a:pt x="2364" y="3537"/>
                  </a:cubicBezTo>
                  <a:cubicBezTo>
                    <a:pt x="1731" y="4276"/>
                    <a:pt x="1207" y="5094"/>
                    <a:pt x="795" y="5957"/>
                  </a:cubicBezTo>
                  <a:cubicBezTo>
                    <a:pt x="378" y="6820"/>
                    <a:pt x="130" y="7676"/>
                    <a:pt x="37" y="8509"/>
                  </a:cubicBezTo>
                  <a:cubicBezTo>
                    <a:pt x="-59" y="9346"/>
                    <a:pt x="33" y="10113"/>
                    <a:pt x="298" y="10824"/>
                  </a:cubicBezTo>
                  <a:cubicBezTo>
                    <a:pt x="566" y="11540"/>
                    <a:pt x="1056" y="12148"/>
                    <a:pt x="1774" y="12723"/>
                  </a:cubicBezTo>
                  <a:cubicBezTo>
                    <a:pt x="2942" y="13658"/>
                    <a:pt x="4321" y="14056"/>
                    <a:pt x="5915" y="13967"/>
                  </a:cubicBezTo>
                  <a:cubicBezTo>
                    <a:pt x="7507" y="13874"/>
                    <a:pt x="9223" y="13415"/>
                    <a:pt x="11065" y="12461"/>
                  </a:cubicBezTo>
                  <a:cubicBezTo>
                    <a:pt x="12533" y="14093"/>
                    <a:pt x="14003" y="15716"/>
                    <a:pt x="15471" y="17223"/>
                  </a:cubicBezTo>
                  <a:cubicBezTo>
                    <a:pt x="14850" y="17728"/>
                    <a:pt x="14306" y="18018"/>
                    <a:pt x="13827" y="18111"/>
                  </a:cubicBezTo>
                  <a:cubicBezTo>
                    <a:pt x="13345" y="18210"/>
                    <a:pt x="12918" y="18200"/>
                    <a:pt x="12531" y="18088"/>
                  </a:cubicBezTo>
                  <a:cubicBezTo>
                    <a:pt x="12143" y="17971"/>
                    <a:pt x="11783" y="17803"/>
                    <a:pt x="11456" y="17587"/>
                  </a:cubicBezTo>
                  <a:cubicBezTo>
                    <a:pt x="11126" y="17368"/>
                    <a:pt x="10800" y="17181"/>
                    <a:pt x="10474" y="17026"/>
                  </a:cubicBezTo>
                  <a:cubicBezTo>
                    <a:pt x="10154" y="16872"/>
                    <a:pt x="9823" y="16788"/>
                    <a:pt x="9486" y="16783"/>
                  </a:cubicBezTo>
                  <a:cubicBezTo>
                    <a:pt x="9145" y="16778"/>
                    <a:pt x="8785" y="16937"/>
                    <a:pt x="8388" y="17265"/>
                  </a:cubicBezTo>
                  <a:cubicBezTo>
                    <a:pt x="7981" y="17606"/>
                    <a:pt x="7777" y="18004"/>
                    <a:pt x="7777" y="18453"/>
                  </a:cubicBezTo>
                  <a:cubicBezTo>
                    <a:pt x="7777" y="18897"/>
                    <a:pt x="7991" y="19351"/>
                    <a:pt x="8408" y="19809"/>
                  </a:cubicBezTo>
                  <a:cubicBezTo>
                    <a:pt x="8830" y="20268"/>
                    <a:pt x="9379" y="20651"/>
                    <a:pt x="10042" y="20955"/>
                  </a:cubicBezTo>
                  <a:cubicBezTo>
                    <a:pt x="10708" y="21259"/>
                    <a:pt x="11456" y="21451"/>
                    <a:pt x="12280" y="21502"/>
                  </a:cubicBezTo>
                  <a:cubicBezTo>
                    <a:pt x="13104" y="21559"/>
                    <a:pt x="13971" y="21437"/>
                    <a:pt x="14887" y="21109"/>
                  </a:cubicBezTo>
                  <a:cubicBezTo>
                    <a:pt x="15808" y="20787"/>
                    <a:pt x="16722" y="20202"/>
                    <a:pt x="17618" y="19332"/>
                  </a:cubicBezTo>
                  <a:cubicBezTo>
                    <a:pt x="18052" y="19739"/>
                    <a:pt x="18490" y="20127"/>
                    <a:pt x="18922" y="20501"/>
                  </a:cubicBezTo>
                  <a:cubicBezTo>
                    <a:pt x="19108" y="20656"/>
                    <a:pt x="19329" y="20731"/>
                    <a:pt x="19602" y="20712"/>
                  </a:cubicBezTo>
                  <a:cubicBezTo>
                    <a:pt x="19862" y="20703"/>
                    <a:pt x="20091" y="20586"/>
                    <a:pt x="20270" y="20375"/>
                  </a:cubicBezTo>
                  <a:cubicBezTo>
                    <a:pt x="20456" y="20160"/>
                    <a:pt x="20533" y="19921"/>
                    <a:pt x="20504" y="19674"/>
                  </a:cubicBezTo>
                  <a:cubicBezTo>
                    <a:pt x="20478" y="19421"/>
                    <a:pt x="20372" y="19229"/>
                    <a:pt x="20193" y="19089"/>
                  </a:cubicBezTo>
                  <a:cubicBezTo>
                    <a:pt x="19756" y="18752"/>
                    <a:pt x="19322" y="18397"/>
                    <a:pt x="18885" y="18022"/>
                  </a:cubicBezTo>
                  <a:cubicBezTo>
                    <a:pt x="19627" y="17143"/>
                    <a:pt x="20222" y="16217"/>
                    <a:pt x="20665" y="15300"/>
                  </a:cubicBezTo>
                  <a:cubicBezTo>
                    <a:pt x="21104" y="14379"/>
                    <a:pt x="21368" y="13490"/>
                    <a:pt x="21454" y="12667"/>
                  </a:cubicBezTo>
                  <a:cubicBezTo>
                    <a:pt x="21541" y="11839"/>
                    <a:pt x="21440" y="11091"/>
                    <a:pt x="21160" y="10412"/>
                  </a:cubicBezTo>
                  <a:cubicBezTo>
                    <a:pt x="20881" y="9725"/>
                    <a:pt x="20387" y="9135"/>
                    <a:pt x="19679" y="8570"/>
                  </a:cubicBezTo>
                </a:path>
              </a:pathLst>
            </a:custGeom>
            <a:solidFill>
              <a:srgbClr val="53585F"/>
            </a:solidFill>
            <a:ln w="12700" cap="flat">
              <a:solidFill>
                <a:schemeClr val="bg1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457062"/>
              <a:endPara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cs typeface="Gill Sans"/>
              </a:endParaRPr>
            </a:p>
          </p:txBody>
        </p:sp>
        <p:sp>
          <p:nvSpPr>
            <p:cNvPr id="98" name="AutoShape 54">
              <a:extLst>
                <a:ext uri="{FF2B5EF4-FFF2-40B4-BE49-F238E27FC236}">
                  <a16:creationId xmlns:a16="http://schemas.microsoft.com/office/drawing/2014/main" id="{F7CCFEB6-3DF0-96CA-D85A-0CFDB179B8D6}"/>
                </a:ext>
              </a:extLst>
            </p:cNvPr>
            <p:cNvSpPr/>
            <p:nvPr/>
          </p:nvSpPr>
          <p:spPr>
            <a:xfrm>
              <a:off x="159541" y="319085"/>
              <a:ext cx="70644" cy="738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9" h="21203" extrusionOk="0">
                  <a:moveTo>
                    <a:pt x="17617" y="468"/>
                  </a:moveTo>
                  <a:lnTo>
                    <a:pt x="17608" y="468"/>
                  </a:lnTo>
                  <a:cubicBezTo>
                    <a:pt x="14872" y="2476"/>
                    <a:pt x="12202" y="4590"/>
                    <a:pt x="9728" y="6958"/>
                  </a:cubicBezTo>
                  <a:cubicBezTo>
                    <a:pt x="7349" y="9227"/>
                    <a:pt x="5201" y="11619"/>
                    <a:pt x="3330" y="14060"/>
                  </a:cubicBezTo>
                  <a:lnTo>
                    <a:pt x="342" y="17962"/>
                  </a:lnTo>
                  <a:lnTo>
                    <a:pt x="351" y="17970"/>
                  </a:lnTo>
                  <a:cubicBezTo>
                    <a:pt x="-196" y="18786"/>
                    <a:pt x="-105" y="19880"/>
                    <a:pt x="639" y="20590"/>
                  </a:cubicBezTo>
                  <a:cubicBezTo>
                    <a:pt x="1492" y="21407"/>
                    <a:pt x="2890" y="21407"/>
                    <a:pt x="3747" y="20590"/>
                  </a:cubicBezTo>
                  <a:cubicBezTo>
                    <a:pt x="3878" y="20460"/>
                    <a:pt x="3985" y="20321"/>
                    <a:pt x="4070" y="20174"/>
                  </a:cubicBezTo>
                  <a:lnTo>
                    <a:pt x="6868" y="16517"/>
                  </a:lnTo>
                  <a:cubicBezTo>
                    <a:pt x="8602" y="14255"/>
                    <a:pt x="10607" y="12027"/>
                    <a:pt x="12826" y="9913"/>
                  </a:cubicBezTo>
                  <a:cubicBezTo>
                    <a:pt x="15283" y="7570"/>
                    <a:pt x="17559" y="5758"/>
                    <a:pt x="20331" y="3749"/>
                  </a:cubicBezTo>
                  <a:lnTo>
                    <a:pt x="20323" y="3741"/>
                  </a:lnTo>
                  <a:cubicBezTo>
                    <a:pt x="20402" y="3684"/>
                    <a:pt x="20475" y="3635"/>
                    <a:pt x="20545" y="3570"/>
                  </a:cubicBezTo>
                  <a:cubicBezTo>
                    <a:pt x="21404" y="2753"/>
                    <a:pt x="21404" y="1427"/>
                    <a:pt x="20545" y="606"/>
                  </a:cubicBezTo>
                  <a:cubicBezTo>
                    <a:pt x="19744" y="-161"/>
                    <a:pt x="18474" y="-193"/>
                    <a:pt x="17617" y="468"/>
                  </a:cubicBezTo>
                </a:path>
              </a:pathLst>
            </a:custGeom>
            <a:solidFill>
              <a:srgbClr val="53585F"/>
            </a:solidFill>
            <a:ln w="12700" cap="flat">
              <a:solidFill>
                <a:schemeClr val="bg1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457062"/>
              <a:endPara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cs typeface="Gill Sans"/>
              </a:endParaRPr>
            </a:p>
          </p:txBody>
        </p:sp>
        <p:sp>
          <p:nvSpPr>
            <p:cNvPr id="99" name="AutoShape 55">
              <a:extLst>
                <a:ext uri="{FF2B5EF4-FFF2-40B4-BE49-F238E27FC236}">
                  <a16:creationId xmlns:a16="http://schemas.microsoft.com/office/drawing/2014/main" id="{5260AF54-D704-E5F8-1572-396523A937FE}"/>
                </a:ext>
              </a:extLst>
            </p:cNvPr>
            <p:cNvSpPr/>
            <p:nvPr/>
          </p:nvSpPr>
          <p:spPr>
            <a:xfrm>
              <a:off x="232566" y="72230"/>
              <a:ext cx="71438" cy="746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1" h="21195" extrusionOk="0">
                  <a:moveTo>
                    <a:pt x="8372" y="11356"/>
                  </a:moveTo>
                  <a:cubicBezTo>
                    <a:pt x="6122" y="13508"/>
                    <a:pt x="3675" y="15444"/>
                    <a:pt x="1144" y="17292"/>
                  </a:cubicBezTo>
                  <a:cubicBezTo>
                    <a:pt x="963" y="17388"/>
                    <a:pt x="786" y="17493"/>
                    <a:pt x="637" y="17645"/>
                  </a:cubicBezTo>
                  <a:cubicBezTo>
                    <a:pt x="-213" y="18457"/>
                    <a:pt x="-213" y="19774"/>
                    <a:pt x="637" y="20585"/>
                  </a:cubicBezTo>
                  <a:cubicBezTo>
                    <a:pt x="1464" y="21380"/>
                    <a:pt x="2796" y="21397"/>
                    <a:pt x="3652" y="20641"/>
                  </a:cubicBezTo>
                  <a:lnTo>
                    <a:pt x="3665" y="20649"/>
                  </a:lnTo>
                  <a:cubicBezTo>
                    <a:pt x="6364" y="18673"/>
                    <a:pt x="8988" y="16581"/>
                    <a:pt x="11420" y="14263"/>
                  </a:cubicBezTo>
                  <a:cubicBezTo>
                    <a:pt x="13760" y="12030"/>
                    <a:pt x="15874" y="9685"/>
                    <a:pt x="17716" y="7283"/>
                  </a:cubicBezTo>
                  <a:lnTo>
                    <a:pt x="20664" y="3427"/>
                  </a:lnTo>
                  <a:lnTo>
                    <a:pt x="20655" y="3419"/>
                  </a:lnTo>
                  <a:cubicBezTo>
                    <a:pt x="21387" y="2600"/>
                    <a:pt x="21358" y="1379"/>
                    <a:pt x="20542" y="608"/>
                  </a:cubicBezTo>
                  <a:cubicBezTo>
                    <a:pt x="19698" y="-203"/>
                    <a:pt x="18324" y="-203"/>
                    <a:pt x="17469" y="608"/>
                  </a:cubicBezTo>
                  <a:cubicBezTo>
                    <a:pt x="17314" y="760"/>
                    <a:pt x="17198" y="937"/>
                    <a:pt x="17095" y="1114"/>
                  </a:cubicBezTo>
                  <a:lnTo>
                    <a:pt x="14229" y="4857"/>
                  </a:lnTo>
                  <a:cubicBezTo>
                    <a:pt x="12527" y="7090"/>
                    <a:pt x="10552" y="9275"/>
                    <a:pt x="8372" y="11356"/>
                  </a:cubicBezTo>
                </a:path>
              </a:pathLst>
            </a:custGeom>
            <a:solidFill>
              <a:srgbClr val="53585F"/>
            </a:solidFill>
            <a:ln w="12700" cap="flat">
              <a:solidFill>
                <a:schemeClr val="bg1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457062"/>
              <a:endPara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cs typeface="Gill Sans"/>
              </a:endParaRPr>
            </a:p>
          </p:txBody>
        </p:sp>
      </p:grpSp>
      <p:sp>
        <p:nvSpPr>
          <p:cNvPr id="100" name="Freeform 75">
            <a:extLst>
              <a:ext uri="{FF2B5EF4-FFF2-40B4-BE49-F238E27FC236}">
                <a16:creationId xmlns:a16="http://schemas.microsoft.com/office/drawing/2014/main" id="{0B0B7F17-7EAC-7D10-2F23-AA9B4C749C13}"/>
              </a:ext>
            </a:extLst>
          </p:cNvPr>
          <p:cNvSpPr/>
          <p:nvPr/>
        </p:nvSpPr>
        <p:spPr>
          <a:xfrm>
            <a:off x="9124832" y="5735347"/>
            <a:ext cx="327845" cy="2775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58" y="21600"/>
                </a:moveTo>
                <a:cubicBezTo>
                  <a:pt x="1006" y="21600"/>
                  <a:pt x="1006" y="21600"/>
                  <a:pt x="1006" y="21600"/>
                </a:cubicBezTo>
                <a:cubicBezTo>
                  <a:pt x="503" y="21600"/>
                  <a:pt x="0" y="21303"/>
                  <a:pt x="0" y="20412"/>
                </a:cubicBezTo>
                <a:cubicBezTo>
                  <a:pt x="0" y="1188"/>
                  <a:pt x="0" y="1188"/>
                  <a:pt x="0" y="1188"/>
                </a:cubicBezTo>
                <a:cubicBezTo>
                  <a:pt x="0" y="594"/>
                  <a:pt x="503" y="0"/>
                  <a:pt x="1006" y="0"/>
                </a:cubicBezTo>
                <a:cubicBezTo>
                  <a:pt x="1509" y="0"/>
                  <a:pt x="2013" y="594"/>
                  <a:pt x="2013" y="1188"/>
                </a:cubicBezTo>
                <a:cubicBezTo>
                  <a:pt x="2013" y="16508"/>
                  <a:pt x="2013" y="16508"/>
                  <a:pt x="2013" y="16508"/>
                </a:cubicBezTo>
                <a:cubicBezTo>
                  <a:pt x="2013" y="19181"/>
                  <a:pt x="2013" y="19181"/>
                  <a:pt x="2013" y="19181"/>
                </a:cubicBezTo>
                <a:cubicBezTo>
                  <a:pt x="20558" y="19181"/>
                  <a:pt x="20558" y="19181"/>
                  <a:pt x="20558" y="19181"/>
                </a:cubicBezTo>
                <a:cubicBezTo>
                  <a:pt x="21348" y="19181"/>
                  <a:pt x="21600" y="19818"/>
                  <a:pt x="21600" y="20412"/>
                </a:cubicBezTo>
                <a:cubicBezTo>
                  <a:pt x="21600" y="21303"/>
                  <a:pt x="21348" y="21600"/>
                  <a:pt x="20558" y="21600"/>
                </a:cubicBezTo>
                <a:close/>
                <a:moveTo>
                  <a:pt x="18294" y="17993"/>
                </a:moveTo>
                <a:cubicBezTo>
                  <a:pt x="16245" y="17993"/>
                  <a:pt x="16245" y="17993"/>
                  <a:pt x="16245" y="17993"/>
                </a:cubicBezTo>
                <a:cubicBezTo>
                  <a:pt x="15742" y="17993"/>
                  <a:pt x="15239" y="17696"/>
                  <a:pt x="15239" y="16805"/>
                </a:cubicBezTo>
                <a:cubicBezTo>
                  <a:pt x="15239" y="8402"/>
                  <a:pt x="15239" y="8402"/>
                  <a:pt x="15239" y="8402"/>
                </a:cubicBezTo>
                <a:cubicBezTo>
                  <a:pt x="15239" y="7808"/>
                  <a:pt x="15742" y="7214"/>
                  <a:pt x="16245" y="7214"/>
                </a:cubicBezTo>
                <a:cubicBezTo>
                  <a:pt x="18294" y="7214"/>
                  <a:pt x="18294" y="7214"/>
                  <a:pt x="18294" y="7214"/>
                </a:cubicBezTo>
                <a:cubicBezTo>
                  <a:pt x="18797" y="7214"/>
                  <a:pt x="19300" y="7808"/>
                  <a:pt x="19300" y="8402"/>
                </a:cubicBezTo>
                <a:cubicBezTo>
                  <a:pt x="19300" y="16805"/>
                  <a:pt x="19300" y="16805"/>
                  <a:pt x="19300" y="16805"/>
                </a:cubicBezTo>
                <a:cubicBezTo>
                  <a:pt x="19300" y="17696"/>
                  <a:pt x="18797" y="17993"/>
                  <a:pt x="18294" y="17993"/>
                </a:cubicBezTo>
                <a:close/>
                <a:moveTo>
                  <a:pt x="12435" y="17993"/>
                </a:moveTo>
                <a:cubicBezTo>
                  <a:pt x="10423" y="17993"/>
                  <a:pt x="10423" y="17993"/>
                  <a:pt x="10423" y="17993"/>
                </a:cubicBezTo>
                <a:cubicBezTo>
                  <a:pt x="9919" y="17993"/>
                  <a:pt x="9380" y="17696"/>
                  <a:pt x="9380" y="16805"/>
                </a:cubicBezTo>
                <a:cubicBezTo>
                  <a:pt x="9380" y="3607"/>
                  <a:pt x="9380" y="3607"/>
                  <a:pt x="9380" y="3607"/>
                </a:cubicBezTo>
                <a:cubicBezTo>
                  <a:pt x="9380" y="3013"/>
                  <a:pt x="9919" y="2419"/>
                  <a:pt x="10423" y="2419"/>
                </a:cubicBezTo>
                <a:cubicBezTo>
                  <a:pt x="12435" y="2419"/>
                  <a:pt x="12435" y="2419"/>
                  <a:pt x="12435" y="2419"/>
                </a:cubicBezTo>
                <a:cubicBezTo>
                  <a:pt x="13190" y="2419"/>
                  <a:pt x="13442" y="3013"/>
                  <a:pt x="13442" y="3607"/>
                </a:cubicBezTo>
                <a:cubicBezTo>
                  <a:pt x="13442" y="16805"/>
                  <a:pt x="13442" y="16805"/>
                  <a:pt x="13442" y="16805"/>
                </a:cubicBezTo>
                <a:cubicBezTo>
                  <a:pt x="13442" y="17696"/>
                  <a:pt x="13190" y="17993"/>
                  <a:pt x="12435" y="17993"/>
                </a:cubicBezTo>
                <a:close/>
                <a:moveTo>
                  <a:pt x="6865" y="17993"/>
                </a:moveTo>
                <a:cubicBezTo>
                  <a:pt x="4816" y="17993"/>
                  <a:pt x="4816" y="17993"/>
                  <a:pt x="4816" y="17993"/>
                </a:cubicBezTo>
                <a:cubicBezTo>
                  <a:pt x="4061" y="17993"/>
                  <a:pt x="3810" y="17696"/>
                  <a:pt x="3810" y="16805"/>
                </a:cubicBezTo>
                <a:cubicBezTo>
                  <a:pt x="3810" y="14386"/>
                  <a:pt x="3810" y="14386"/>
                  <a:pt x="3810" y="14386"/>
                </a:cubicBezTo>
                <a:cubicBezTo>
                  <a:pt x="3810" y="13792"/>
                  <a:pt x="4061" y="13198"/>
                  <a:pt x="4816" y="13198"/>
                </a:cubicBezTo>
                <a:cubicBezTo>
                  <a:pt x="6865" y="13198"/>
                  <a:pt x="6865" y="13198"/>
                  <a:pt x="6865" y="13198"/>
                </a:cubicBezTo>
                <a:cubicBezTo>
                  <a:pt x="7368" y="13198"/>
                  <a:pt x="7871" y="13792"/>
                  <a:pt x="7871" y="14386"/>
                </a:cubicBezTo>
                <a:cubicBezTo>
                  <a:pt x="7871" y="16805"/>
                  <a:pt x="7871" y="16805"/>
                  <a:pt x="7871" y="16805"/>
                </a:cubicBezTo>
                <a:cubicBezTo>
                  <a:pt x="7871" y="17696"/>
                  <a:pt x="7368" y="17993"/>
                  <a:pt x="6865" y="17993"/>
                </a:cubicBezTo>
                <a:close/>
              </a:path>
            </a:pathLst>
          </a:custGeom>
          <a:solidFill>
            <a:schemeClr val="bg1"/>
          </a:solidFill>
          <a:ln w="12700" cap="flat">
            <a:solidFill>
              <a:srgbClr val="3B82F6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457062"/>
            <a:endParaRPr sz="29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cs typeface="Gill Sans"/>
            </a:endParaRPr>
          </a:p>
        </p:txBody>
      </p:sp>
      <p:pic>
        <p:nvPicPr>
          <p:cNvPr id="47" name="Picture 46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2E96E344-FADA-5B73-E48C-579361E774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303" y="994992"/>
            <a:ext cx="1208025" cy="1202656"/>
          </a:xfrm>
          <a:prstGeom prst="rect">
            <a:avLst/>
          </a:prstGeom>
        </p:spPr>
      </p:pic>
      <p:sp>
        <p:nvSpPr>
          <p:cNvPr id="16" name="Graphic 43">
            <a:extLst>
              <a:ext uri="{FF2B5EF4-FFF2-40B4-BE49-F238E27FC236}">
                <a16:creationId xmlns:a16="http://schemas.microsoft.com/office/drawing/2014/main" id="{8AAF8502-BBC9-7D42-DC24-CE489CD5A669}"/>
              </a:ext>
            </a:extLst>
          </p:cNvPr>
          <p:cNvSpPr/>
          <p:nvPr/>
        </p:nvSpPr>
        <p:spPr>
          <a:xfrm>
            <a:off x="594359" y="5678267"/>
            <a:ext cx="2637769" cy="923925"/>
          </a:xfrm>
          <a:custGeom>
            <a:avLst/>
            <a:gdLst/>
            <a:ahLst/>
            <a:cxnLst/>
            <a:rect l="l" t="t" r="r" b="b"/>
            <a:pathLst>
              <a:path w="3209925" h="923925">
                <a:moveTo>
                  <a:pt x="3209924" y="923924"/>
                </a:moveTo>
                <a:lnTo>
                  <a:pt x="0" y="923924"/>
                </a:lnTo>
                <a:lnTo>
                  <a:pt x="0" y="0"/>
                </a:lnTo>
                <a:lnTo>
                  <a:pt x="3209924" y="0"/>
                </a:lnTo>
                <a:lnTo>
                  <a:pt x="3209924" y="923924"/>
                </a:lnTo>
                <a:close/>
              </a:path>
            </a:pathLst>
          </a:custGeom>
          <a:solidFill>
            <a:schemeClr val="tx2"/>
          </a:solidFill>
          <a:ln>
            <a:noFill/>
            <a:bevel/>
          </a:ln>
          <a:effectLst>
            <a:softEdge rad="31750"/>
          </a:effectLst>
          <a:scene3d>
            <a:camera prst="orthographicFront"/>
            <a:lightRig rig="threePt" dir="t"/>
          </a:scene3d>
          <a:sp3d extrusionH="76200">
            <a:bevelT/>
            <a:extrusionClr>
              <a:srgbClr val="082D4A"/>
            </a:extrusionClr>
          </a:sp3d>
        </p:spPr>
        <p:txBody>
          <a:bodyPr wrap="square" lIns="0" tIns="0" rIns="0" bIns="0" rtlCol="0">
            <a:prstTxWarp prst="textNoShape">
              <a:avLst/>
            </a:prstTxWarp>
            <a:noAutofit/>
          </a:bodyPr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10x Faster Decisions</a:t>
            </a:r>
          </a:p>
          <a:p>
            <a:pPr marL="327025" marR="267970" algn="ctr">
              <a:lnSpc>
                <a:spcPct val="110000"/>
              </a:lnSpc>
              <a:spcBef>
                <a:spcPts val="620"/>
              </a:spcBef>
            </a:pPr>
            <a:r>
              <a:rPr lang="en-US" sz="11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From Monthly reviews to weekly strategy sessions</a:t>
            </a:r>
            <a:endParaRPr lang="en-EG" sz="11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1" name="Shape 2630">
            <a:extLst>
              <a:ext uri="{FF2B5EF4-FFF2-40B4-BE49-F238E27FC236}">
                <a16:creationId xmlns:a16="http://schemas.microsoft.com/office/drawing/2014/main" id="{3E796D8A-FF97-F388-246E-C64B10796297}"/>
              </a:ext>
            </a:extLst>
          </p:cNvPr>
          <p:cNvSpPr/>
          <p:nvPr/>
        </p:nvSpPr>
        <p:spPr>
          <a:xfrm flipH="1">
            <a:off x="635343" y="5698332"/>
            <a:ext cx="299785" cy="464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chemeClr val="bg1"/>
          </a:solidFill>
          <a:ln w="12700" cap="flat">
            <a:solidFill>
              <a:schemeClr val="bg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457062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pic>
        <p:nvPicPr>
          <p:cNvPr id="48" name="Image 1" descr="/home/claude/icons/check.png">
            <a:extLst>
              <a:ext uri="{FF2B5EF4-FFF2-40B4-BE49-F238E27FC236}">
                <a16:creationId xmlns:a16="http://schemas.microsoft.com/office/drawing/2014/main" id="{DE9E2929-8F2B-27C2-790E-606BA85A4F2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5805" y="1508760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74513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151</Words>
  <Application>Microsoft Macintosh PowerPoint</Application>
  <PresentationFormat>Widescreen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Gill Sans</vt:lpstr>
      <vt:lpstr>Lato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Mostafa Younes</dc:creator>
  <cp:lastModifiedBy>Mostafa Younes</cp:lastModifiedBy>
  <cp:revision>7</cp:revision>
  <dcterms:created xsi:type="dcterms:W3CDTF">2026-03-01T12:58:12Z</dcterms:created>
  <dcterms:modified xsi:type="dcterms:W3CDTF">2026-05-11T22:43:08Z</dcterms:modified>
</cp:coreProperties>
</file>