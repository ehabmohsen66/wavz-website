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43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stafa Younes" userId="2da2e38c-7714-40e8-b8ee-6f776d82d3ff" providerId="ADAL" clId="{F3DAC227-E811-5A81-811C-6BCA178243A6}"/>
    <pc:docChg chg="modSld">
      <pc:chgData name="Mostafa Younes" userId="2da2e38c-7714-40e8-b8ee-6f776d82d3ff" providerId="ADAL" clId="{F3DAC227-E811-5A81-811C-6BCA178243A6}" dt="2026-05-17T06:58:29.634" v="1" actId="14100"/>
      <pc:docMkLst>
        <pc:docMk/>
      </pc:docMkLst>
      <pc:sldChg chg="modSp mod">
        <pc:chgData name="Mostafa Younes" userId="2da2e38c-7714-40e8-b8ee-6f776d82d3ff" providerId="ADAL" clId="{F3DAC227-E811-5A81-811C-6BCA178243A6}" dt="2026-05-17T06:58:29.634" v="1" actId="14100"/>
        <pc:sldMkLst>
          <pc:docMk/>
          <pc:sldMk cId="0" sldId="256"/>
        </pc:sldMkLst>
        <pc:spChg chg="mod">
          <ac:chgData name="Mostafa Younes" userId="2da2e38c-7714-40e8-b8ee-6f776d82d3ff" providerId="ADAL" clId="{F3DAC227-E811-5A81-811C-6BCA178243A6}" dt="2026-05-17T06:58:29.634" v="1" actId="14100"/>
          <ac:spMkLst>
            <pc:docMk/>
            <pc:sldMk cId="0" sldId="256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6162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DF9FD943-C335-03E9-18C3-9F268D4115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7645" y="-190808"/>
            <a:ext cx="1499514" cy="1484753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29BC347E-A6C0-F332-F638-5374C71A9903}"/>
              </a:ext>
            </a:extLst>
          </p:cNvPr>
          <p:cNvGrpSpPr/>
          <p:nvPr userDrawn="1"/>
        </p:nvGrpSpPr>
        <p:grpSpPr>
          <a:xfrm>
            <a:off x="10369095" y="-1675594"/>
            <a:ext cx="2272718" cy="4909522"/>
            <a:chOff x="10369095" y="-1675594"/>
            <a:chExt cx="2272718" cy="4909522"/>
          </a:xfrm>
        </p:grpSpPr>
        <p:sp>
          <p:nvSpPr>
            <p:cNvPr id="4" name="Moon 3">
              <a:extLst>
                <a:ext uri="{FF2B5EF4-FFF2-40B4-BE49-F238E27FC236}">
                  <a16:creationId xmlns:a16="http://schemas.microsoft.com/office/drawing/2014/main" id="{0843F9D2-056E-552D-EEDC-8B3997742FF9}"/>
                </a:ext>
              </a:extLst>
            </p:cNvPr>
            <p:cNvSpPr/>
            <p:nvPr/>
          </p:nvSpPr>
          <p:spPr>
            <a:xfrm rot="8261318">
              <a:off x="10397699" y="-1395487"/>
              <a:ext cx="2244114" cy="4629415"/>
            </a:xfrm>
            <a:prstGeom prst="moon">
              <a:avLst/>
            </a:prstGeom>
            <a:solidFill>
              <a:srgbClr val="FFB814"/>
            </a:solidFill>
          </p:spPr>
          <p:txBody>
            <a:bodyPr/>
            <a:lstStyle/>
            <a:p>
              <a:endParaRPr lang="en-EG" sz="1688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5" name="Moon 4">
              <a:extLst>
                <a:ext uri="{FF2B5EF4-FFF2-40B4-BE49-F238E27FC236}">
                  <a16:creationId xmlns:a16="http://schemas.microsoft.com/office/drawing/2014/main" id="{8EE69E5A-8915-F828-BA25-56D0817D7188}"/>
                </a:ext>
              </a:extLst>
            </p:cNvPr>
            <p:cNvSpPr/>
            <p:nvPr/>
          </p:nvSpPr>
          <p:spPr>
            <a:xfrm rot="8261318">
              <a:off x="10369095" y="-1675594"/>
              <a:ext cx="2244114" cy="4629415"/>
            </a:xfrm>
            <a:prstGeom prst="moon">
              <a:avLst/>
            </a:prstGeom>
            <a:solidFill>
              <a:srgbClr val="082D4A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EG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pic>
        <p:nvPicPr>
          <p:cNvPr id="6" name="Image 5" descr="preencoded.png">
            <a:extLst>
              <a:ext uri="{FF2B5EF4-FFF2-40B4-BE49-F238E27FC236}">
                <a16:creationId xmlns:a16="http://schemas.microsoft.com/office/drawing/2014/main" id="{0A12B9E6-7463-7258-50E0-818D8BC820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10000"/>
          </a:blip>
          <a:srcRect t="-103" b="-103"/>
          <a:stretch/>
        </p:blipFill>
        <p:spPr>
          <a:xfrm>
            <a:off x="0" y="4148633"/>
            <a:ext cx="12191695" cy="271485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0" y="201168"/>
            <a:ext cx="12192000" cy="584775"/>
          </a:xfrm>
          <a:prstGeom prst="rect">
            <a:avLst/>
          </a:prstGeom>
          <a:ln w="12700">
            <a:miter lim="400000"/>
          </a:ln>
        </p:spPr>
        <p:txBody>
          <a:bodyPr wrap="square" lIns="22860" rIns="22860">
            <a:spAutoFit/>
          </a:bodyPr>
          <a:lstStyle/>
          <a:p>
            <a:pPr algn="ctr"/>
            <a:r>
              <a:rPr lang="en-US" sz="3200" b="1" cap="all" spc="360" dirty="0">
                <a:solidFill>
                  <a:srgbClr val="082D4A"/>
                </a:solidFill>
                <a:latin typeface="Nexa Bold"/>
              </a:rPr>
              <a:t>NATIONWIDE SECURITY AT SCALE</a:t>
            </a:r>
          </a:p>
        </p:txBody>
      </p:sp>
      <p:sp>
        <p:nvSpPr>
          <p:cNvPr id="5" name="Text 2"/>
          <p:cNvSpPr/>
          <p:nvPr/>
        </p:nvSpPr>
        <p:spPr>
          <a:xfrm>
            <a:off x="0" y="969264"/>
            <a:ext cx="1219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D4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How WAVZ Built Egypt Post's 24/7 Command &amp; Control Center</a:t>
            </a:r>
            <a:endParaRPr lang="en-US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2377440" y="1444752"/>
            <a:ext cx="7434072" cy="502920"/>
          </a:xfrm>
          <a:prstGeom prst="roundRect">
            <a:avLst>
              <a:gd name="adj" fmla="val 49091"/>
            </a:avLst>
          </a:prstGeom>
          <a:solidFill>
            <a:srgbClr val="082D4A"/>
          </a:solidFill>
          <a:ln/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7" name="Image 1" descr="/home/claude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032" y="150876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017520" y="1444752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Securing 3,300+ branches &amp; 30,000+ devices with 24/7 nationwide operations</a:t>
            </a:r>
            <a:endParaRPr lang="en-US" sz="1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457200" y="2139696"/>
            <a:ext cx="11274552" cy="36576"/>
          </a:xfrm>
          <a:prstGeom prst="rect">
            <a:avLst/>
          </a:prstGeom>
          <a:solidFill>
            <a:srgbClr val="FFB814"/>
          </a:solidFill>
          <a:ln/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02920" y="233172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kern="0" spc="300" dirty="0">
                <a:solidFill>
                  <a:srgbClr val="082D4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CHALLENGE</a:t>
            </a:r>
            <a:endParaRPr lang="en-US" sz="19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960120" y="2697480"/>
            <a:ext cx="3520440" cy="13716"/>
          </a:xfrm>
          <a:prstGeom prst="rect">
            <a:avLst/>
          </a:prstGeom>
          <a:solidFill>
            <a:srgbClr val="97CFFA"/>
          </a:solidFill>
          <a:ln/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2" name="Image 2" descr="/home/claude/icons/ey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898648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2880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82D4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Zero Centralized Visibility</a:t>
            </a:r>
            <a:endParaRPr lang="en-US" sz="125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1097280" y="31363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D6D7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 unified view across 3,300+ distributed branches.</a:t>
            </a:r>
            <a:endParaRPr lang="en-US" sz="105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5" name="Image 3" descr="/home/claude/icons/ale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675888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97280" y="3657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82D4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Fragmented Incident Response</a:t>
            </a:r>
            <a:endParaRPr lang="en-US" sz="125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1097280" y="391363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D6D7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Branch-level monitoring caused delayed, inconsistent response.</a:t>
            </a:r>
            <a:endParaRPr lang="en-US" sz="105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8" name="Image 4" descr="/home/claude/icons/c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453128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97280" y="4434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82D4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Slow Emergency Coordination</a:t>
            </a:r>
            <a:endParaRPr lang="en-US" sz="125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0" name="Text 13"/>
          <p:cNvSpPr/>
          <p:nvPr/>
        </p:nvSpPr>
        <p:spPr>
          <a:xfrm>
            <a:off x="1097280" y="46908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D6D7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Ad-hoc communication with Najda — Ministry of Interior services.</a:t>
            </a:r>
            <a:endParaRPr lang="en-US" sz="105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21" name="Image 5" descr="/home/claude/icons/netwo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5230368"/>
            <a:ext cx="457200" cy="4572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097280" y="5212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82D4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 Governance Model</a:t>
            </a:r>
            <a:endParaRPr lang="en-US" sz="125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1097280" y="546811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D6D7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Absence of structured SOPs and management reporting.</a:t>
            </a:r>
            <a:endParaRPr lang="en-US" sz="105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5440680" y="233172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kern="0" spc="300" dirty="0">
                <a:solidFill>
                  <a:srgbClr val="082D4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SOLUTION</a:t>
            </a:r>
            <a:endParaRPr lang="en-US" sz="19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5897880" y="2697480"/>
            <a:ext cx="5394960" cy="13716"/>
          </a:xfrm>
          <a:prstGeom prst="rect">
            <a:avLst/>
          </a:prstGeom>
          <a:solidFill>
            <a:srgbClr val="97CFFA"/>
          </a:solidFill>
          <a:ln/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5440680" y="2834640"/>
            <a:ext cx="3072384" cy="1325880"/>
          </a:xfrm>
          <a:prstGeom prst="rect">
            <a:avLst/>
          </a:prstGeom>
          <a:solidFill>
            <a:srgbClr val="D6E4F0"/>
          </a:solidFill>
          <a:ln/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5440680" y="2834640"/>
            <a:ext cx="3072384" cy="64008"/>
          </a:xfrm>
          <a:prstGeom prst="rect">
            <a:avLst/>
          </a:prstGeom>
          <a:solidFill>
            <a:srgbClr val="082D4A"/>
          </a:solidFill>
          <a:ln/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28" name="Image 6" descr="/home/claude/icons/camer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7416" y="2962656"/>
            <a:ext cx="438912" cy="43891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532120" y="3429000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82D4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Centralized Monitoring</a:t>
            </a:r>
            <a:endParaRPr lang="en-US" sz="125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0" name="Text 21"/>
          <p:cNvSpPr/>
          <p:nvPr/>
        </p:nvSpPr>
        <p:spPr>
          <a:xfrm>
            <a:off x="5577840" y="3685032"/>
            <a:ext cx="2798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2D4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Real-time supervision of CCTV, intrusion, fire &amp; access systems across the nation.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1" name="Shape 22"/>
          <p:cNvSpPr/>
          <p:nvPr/>
        </p:nvSpPr>
        <p:spPr>
          <a:xfrm>
            <a:off x="8677656" y="2834640"/>
            <a:ext cx="3072384" cy="1325880"/>
          </a:xfrm>
          <a:prstGeom prst="rect">
            <a:avLst/>
          </a:prstGeom>
          <a:solidFill>
            <a:srgbClr val="D6E4F0"/>
          </a:solidFill>
          <a:ln/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2" name="Shape 23"/>
          <p:cNvSpPr/>
          <p:nvPr/>
        </p:nvSpPr>
        <p:spPr>
          <a:xfrm>
            <a:off x="8677656" y="2834640"/>
            <a:ext cx="3072384" cy="64008"/>
          </a:xfrm>
          <a:prstGeom prst="rect">
            <a:avLst/>
          </a:prstGeom>
          <a:solidFill>
            <a:srgbClr val="082D4A"/>
          </a:solidFill>
          <a:ln/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33" name="Image 7" descr="/home/claude/icons/lifecyc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94392" y="2962656"/>
            <a:ext cx="438912" cy="438912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8769096" y="3429000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82D4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Structured Incident Mgmt</a:t>
            </a:r>
            <a:endParaRPr lang="en-US" sz="125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5" name="Text 25"/>
          <p:cNvSpPr/>
          <p:nvPr/>
        </p:nvSpPr>
        <p:spPr>
          <a:xfrm>
            <a:off x="8814816" y="3685032"/>
            <a:ext cx="2798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2D4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End-to-end lifecycle: detect → verify → classify → escalate → report.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6" name="Shape 26"/>
          <p:cNvSpPr/>
          <p:nvPr/>
        </p:nvSpPr>
        <p:spPr>
          <a:xfrm>
            <a:off x="5440680" y="4270248"/>
            <a:ext cx="3072384" cy="1325880"/>
          </a:xfrm>
          <a:prstGeom prst="rect">
            <a:avLst/>
          </a:prstGeom>
          <a:solidFill>
            <a:srgbClr val="D6E4F0"/>
          </a:solidFill>
          <a:ln/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7" name="Shape 27"/>
          <p:cNvSpPr/>
          <p:nvPr/>
        </p:nvSpPr>
        <p:spPr>
          <a:xfrm>
            <a:off x="5440680" y="4270248"/>
            <a:ext cx="3072384" cy="64008"/>
          </a:xfrm>
          <a:prstGeom prst="rect">
            <a:avLst/>
          </a:prstGeom>
          <a:solidFill>
            <a:srgbClr val="082D4A"/>
          </a:solidFill>
          <a:ln/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38" name="Image 8" descr="/home/claude/icons/radi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57416" y="4398264"/>
            <a:ext cx="438912" cy="438912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5532120" y="4864608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82D4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Najda Integration</a:t>
            </a:r>
            <a:endParaRPr lang="en-US" sz="125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0" name="Text 29"/>
          <p:cNvSpPr/>
          <p:nvPr/>
        </p:nvSpPr>
        <p:spPr>
          <a:xfrm>
            <a:off x="5577840" y="5120640"/>
            <a:ext cx="2798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2D4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Direct coordination channel with Ministry of Interior emergency centers.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1" name="Shape 30"/>
          <p:cNvSpPr/>
          <p:nvPr/>
        </p:nvSpPr>
        <p:spPr>
          <a:xfrm>
            <a:off x="8677656" y="4270248"/>
            <a:ext cx="3072384" cy="1325880"/>
          </a:xfrm>
          <a:prstGeom prst="rect">
            <a:avLst/>
          </a:prstGeom>
          <a:solidFill>
            <a:srgbClr val="D6E4F0"/>
          </a:solidFill>
          <a:ln/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2" name="Shape 31"/>
          <p:cNvSpPr/>
          <p:nvPr/>
        </p:nvSpPr>
        <p:spPr>
          <a:xfrm>
            <a:off x="8677656" y="4270248"/>
            <a:ext cx="3072384" cy="64008"/>
          </a:xfrm>
          <a:prstGeom prst="rect">
            <a:avLst/>
          </a:prstGeom>
          <a:solidFill>
            <a:srgbClr val="082D4A"/>
          </a:solidFill>
          <a:ln/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43" name="Image 9" descr="/home/claude/icons/governanc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94392" y="4398264"/>
            <a:ext cx="438912" cy="438912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8769096" y="4864608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82D4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15+ Standardized SOPs</a:t>
            </a:r>
            <a:endParaRPr lang="en-US" sz="125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5" name="Text 33"/>
          <p:cNvSpPr/>
          <p:nvPr/>
        </p:nvSpPr>
        <p:spPr>
          <a:xfrm>
            <a:off x="8814816" y="5120640"/>
            <a:ext cx="2798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2D4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Codified governance ensuring consistent, audit-ready operations.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6" name="Shape 34"/>
          <p:cNvSpPr/>
          <p:nvPr/>
        </p:nvSpPr>
        <p:spPr>
          <a:xfrm>
            <a:off x="502920" y="5760720"/>
            <a:ext cx="2688336" cy="914400"/>
          </a:xfrm>
          <a:prstGeom prst="rect">
            <a:avLst/>
          </a:prstGeom>
          <a:solidFill>
            <a:srgbClr val="D6E4F0"/>
          </a:solidFill>
          <a:ln/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7" name="Shape 35"/>
          <p:cNvSpPr/>
          <p:nvPr/>
        </p:nvSpPr>
        <p:spPr>
          <a:xfrm>
            <a:off x="502920" y="5760720"/>
            <a:ext cx="82296" cy="914400"/>
          </a:xfrm>
          <a:prstGeom prst="rect">
            <a:avLst/>
          </a:prstGeom>
          <a:solidFill>
            <a:srgbClr val="FFB814"/>
          </a:solidFill>
          <a:ln/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8" name="Text 36"/>
          <p:cNvSpPr/>
          <p:nvPr/>
        </p:nvSpPr>
        <p:spPr>
          <a:xfrm>
            <a:off x="630936" y="5760720"/>
            <a:ext cx="129040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82D4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3,300+</a:t>
            </a:r>
            <a:endParaRPr lang="en-US" sz="2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9" name="Text 37"/>
          <p:cNvSpPr/>
          <p:nvPr/>
        </p:nvSpPr>
        <p:spPr>
          <a:xfrm>
            <a:off x="1711879" y="5888736"/>
            <a:ext cx="14793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2D4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Branches Monitored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0" name="Text 38"/>
          <p:cNvSpPr/>
          <p:nvPr/>
        </p:nvSpPr>
        <p:spPr>
          <a:xfrm>
            <a:off x="1847088" y="6236208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D6D7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Nationwide coverage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1" name="Shape 39"/>
          <p:cNvSpPr/>
          <p:nvPr/>
        </p:nvSpPr>
        <p:spPr>
          <a:xfrm>
            <a:off x="3355848" y="5760720"/>
            <a:ext cx="2688336" cy="914400"/>
          </a:xfrm>
          <a:prstGeom prst="rect">
            <a:avLst/>
          </a:prstGeom>
          <a:solidFill>
            <a:srgbClr val="D6E4F0"/>
          </a:solidFill>
          <a:ln/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2" name="Shape 40"/>
          <p:cNvSpPr/>
          <p:nvPr/>
        </p:nvSpPr>
        <p:spPr>
          <a:xfrm>
            <a:off x="3355848" y="5760720"/>
            <a:ext cx="82296" cy="914400"/>
          </a:xfrm>
          <a:prstGeom prst="rect">
            <a:avLst/>
          </a:prstGeom>
          <a:solidFill>
            <a:srgbClr val="FFB814"/>
          </a:solidFill>
          <a:ln/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3" name="Text 41"/>
          <p:cNvSpPr/>
          <p:nvPr/>
        </p:nvSpPr>
        <p:spPr>
          <a:xfrm>
            <a:off x="3483864" y="5760720"/>
            <a:ext cx="129040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82D4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30,000+</a:t>
            </a:r>
            <a:endParaRPr lang="en-US" sz="2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4" name="Text 42"/>
          <p:cNvSpPr/>
          <p:nvPr/>
        </p:nvSpPr>
        <p:spPr>
          <a:xfrm>
            <a:off x="4700016" y="5888736"/>
            <a:ext cx="134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2D4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Connected Devices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5" name="Text 43"/>
          <p:cNvSpPr/>
          <p:nvPr/>
        </p:nvSpPr>
        <p:spPr>
          <a:xfrm>
            <a:off x="4700016" y="6236208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D6D7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Single source of truth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6" name="Shape 44"/>
          <p:cNvSpPr/>
          <p:nvPr/>
        </p:nvSpPr>
        <p:spPr>
          <a:xfrm>
            <a:off x="6208776" y="5760720"/>
            <a:ext cx="2688336" cy="914400"/>
          </a:xfrm>
          <a:prstGeom prst="rect">
            <a:avLst/>
          </a:prstGeom>
          <a:solidFill>
            <a:srgbClr val="D6E4F0"/>
          </a:solidFill>
          <a:ln/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7" name="Shape 45"/>
          <p:cNvSpPr/>
          <p:nvPr/>
        </p:nvSpPr>
        <p:spPr>
          <a:xfrm>
            <a:off x="6208776" y="5760720"/>
            <a:ext cx="82296" cy="914400"/>
          </a:xfrm>
          <a:prstGeom prst="rect">
            <a:avLst/>
          </a:prstGeom>
          <a:solidFill>
            <a:srgbClr val="FFB814"/>
          </a:solidFill>
          <a:ln/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8" name="Text 46"/>
          <p:cNvSpPr/>
          <p:nvPr/>
        </p:nvSpPr>
        <p:spPr>
          <a:xfrm>
            <a:off x="6336792" y="5760720"/>
            <a:ext cx="129040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82D4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1–2</a:t>
            </a:r>
            <a:endParaRPr lang="en-US" sz="2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9" name="Text 47"/>
          <p:cNvSpPr/>
          <p:nvPr/>
        </p:nvSpPr>
        <p:spPr>
          <a:xfrm>
            <a:off x="7196328" y="5888736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2D4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Theft Cases / Year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0" name="Text 48"/>
          <p:cNvSpPr/>
          <p:nvPr/>
        </p:nvSpPr>
        <p:spPr>
          <a:xfrm>
            <a:off x="7196328" y="6236208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D6D7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Down from frequent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1" name="Shape 49"/>
          <p:cNvSpPr/>
          <p:nvPr/>
        </p:nvSpPr>
        <p:spPr>
          <a:xfrm>
            <a:off x="9061704" y="5760720"/>
            <a:ext cx="2688336" cy="914400"/>
          </a:xfrm>
          <a:prstGeom prst="rect">
            <a:avLst/>
          </a:prstGeom>
          <a:solidFill>
            <a:srgbClr val="D6E4F0"/>
          </a:solidFill>
          <a:ln/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2" name="Shape 50"/>
          <p:cNvSpPr/>
          <p:nvPr/>
        </p:nvSpPr>
        <p:spPr>
          <a:xfrm>
            <a:off x="9061704" y="5760720"/>
            <a:ext cx="82296" cy="914400"/>
          </a:xfrm>
          <a:prstGeom prst="rect">
            <a:avLst/>
          </a:prstGeom>
          <a:solidFill>
            <a:srgbClr val="FFB814"/>
          </a:solidFill>
          <a:ln/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3" name="Text 51"/>
          <p:cNvSpPr/>
          <p:nvPr/>
        </p:nvSpPr>
        <p:spPr>
          <a:xfrm>
            <a:off x="9189720" y="5760720"/>
            <a:ext cx="129040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82D4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24/7</a:t>
            </a:r>
            <a:endParaRPr lang="en-US" sz="2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4" name="Text 52"/>
          <p:cNvSpPr/>
          <p:nvPr/>
        </p:nvSpPr>
        <p:spPr>
          <a:xfrm>
            <a:off x="10021824" y="5888736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2D4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Operations Coverage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5" name="Text 53"/>
          <p:cNvSpPr/>
          <p:nvPr/>
        </p:nvSpPr>
        <p:spPr>
          <a:xfrm>
            <a:off x="10021824" y="6236208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D6D7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Always-on reliability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6" name="Shape 4">
            <a:extLst>
              <a:ext uri="{FF2B5EF4-FFF2-40B4-BE49-F238E27FC236}">
                <a16:creationId xmlns:a16="http://schemas.microsoft.com/office/drawing/2014/main" id="{4487A34E-FD5F-7B9A-5D3D-764B05638639}"/>
              </a:ext>
            </a:extLst>
          </p:cNvPr>
          <p:cNvSpPr/>
          <p:nvPr/>
        </p:nvSpPr>
        <p:spPr>
          <a:xfrm>
            <a:off x="3217062" y="947385"/>
            <a:ext cx="5772709" cy="45719"/>
          </a:xfrm>
          <a:prstGeom prst="rect">
            <a:avLst/>
          </a:prstGeom>
          <a:solidFill>
            <a:srgbClr val="FFB814"/>
          </a:solidFill>
        </p:spPr>
        <p:txBody>
          <a:bodyPr/>
          <a:lstStyle/>
          <a:p>
            <a:endParaRPr lang="en-EG" sz="1688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162</Words>
  <Application>Microsoft Macintosh PowerPoint</Application>
  <PresentationFormat>Widescreen</PresentationFormat>
  <Paragraphs>34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Lato</vt:lpstr>
      <vt:lpstr>Nexa Bold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Egypt Post CCC — Use Case</dc:title>
  <dc:subject>PptxGenJS Presentation</dc:subject>
  <dc:creator>WAVZ</dc:creator>
  <cp:lastModifiedBy>Mostafa Younes</cp:lastModifiedBy>
  <cp:revision>3</cp:revision>
  <dcterms:created xsi:type="dcterms:W3CDTF">2026-05-11T22:11:20Z</dcterms:created>
  <dcterms:modified xsi:type="dcterms:W3CDTF">2026-05-17T06:58:35Z</dcterms:modified>
</cp:coreProperties>
</file>